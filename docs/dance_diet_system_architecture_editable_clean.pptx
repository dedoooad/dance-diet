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3EC6A-702E-9E88-3DBB-E974B31DF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A1FFF6-B4E3-6610-8261-43887BEE3B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E790E5-622B-6925-1E54-4EF7E3C4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E0725D-619E-9BA5-6F73-65B6E8430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36BB20-3DAB-0CB4-E874-440322FC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73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BBF47-7F4A-2BBE-53BD-1928E6B50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38E62-B6FD-46DA-EAAD-03D1BA36D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4DB09F-F576-DEE8-4E3C-35455D4FE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D8A59F-E096-F986-02E8-B6D1C054D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EFD87A-B457-795D-83AB-DEA6667BC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7528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EA91D-62D4-9C3E-07A8-5A427F793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A376CF-34FB-3AC7-24D7-3F4E6D89F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1259C-27AA-3A6E-41D9-69A3E37C5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951F50-846B-B2F1-DDFF-191D26D3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07FDF3-18CC-3C4F-A3B7-83B08E371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299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AB985F-BFFB-28FC-9775-0E2DD8A42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1F7ED5-97A7-7146-0BCD-5ECAED45E0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A1FCC51-D4EE-572F-E6CF-4027CF8749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CDFF6-063A-D6B4-F594-57AF63776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8179DE-CF1A-C3EB-9EE6-B3CF121F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A7B792-CEF2-5C0E-A2E7-DA39F22B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1688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1B8F83-D56E-8712-56E1-6D6C4C3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751C3D-C147-D851-818C-3FF6E74C4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520BF5-2205-AA08-E074-4A1E6AB58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ABE0F07-7E1A-E3A7-A5A2-5EDA090B9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DB4796F-B298-8068-74E0-1264B6D15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29010C-39AF-D5A5-42C6-5BBE637AB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742A36-EEE8-6464-7475-0807650F9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98DDF0B-41C3-9842-75FB-BE622F52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68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367FF-76A8-2E89-7BAA-C00815B4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E6EBCDF-DB68-BE4F-04BF-5EB49D297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7975EE-37D7-123E-09E8-89A059293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C15A93-D67C-691D-62B9-7BEE13D83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3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94AF691-F1BB-2C43-491E-A03C6A53D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3D72878-5418-5437-EDEC-1CBB474DE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6416A5-DAD8-39BB-4F41-BA50C57D6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05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0B1EDA-6B29-F170-6CAD-FB2FBD44E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201E71-DBF1-54FF-EB25-7BD1A73BB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4CC375-A8DD-D2AA-6C77-710A56B5B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963C03-C199-1CF7-86AA-8DE72839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1BDCFB-D787-56A0-7409-56E67E569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80B79E-F51E-7D5F-81A8-671CE2AB4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444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D9086-0BD2-6F41-8236-04728D63F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83B90F-119D-C4A2-71A5-48C8C8B34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06228F-B5F6-C291-45B7-14121BED3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493560-44EB-C658-BDFE-9AC061CF3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8AD4D3-335C-EAD5-76E5-B4A5B4FD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EA5237-6C32-DFAB-8054-C7E94FA1C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32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4825C-028B-5159-9D4C-5FE750134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1AE3CFC-342C-F9CC-634F-B6EA1A7B5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C3FE97-697A-DD8B-7657-016B3FDAE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747CF-7082-1F1C-1251-5E348CE8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AD3ADF-323F-F180-7FD2-6C8FADC2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9264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4245C2-BFB4-41E4-7BEE-B4234259D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15123F-521C-6DBB-697C-68C84439C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5F9ADA-CCC3-F21A-750C-869DB2CDC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FF38D0-9F2B-A176-EDA8-C83585F4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0290DF-26E9-CB47-85F9-8AEC912E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9658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EEBDE48-B33D-6017-BD35-0F1DE97F4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517750-2385-3273-6426-DFC896A22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A77503-FBFD-81D4-F64E-CAADB5F94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B180DE-D47F-40CF-891B-BF6DD8A6589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3F9F02-A4F8-D152-79CB-2581E9FBB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6355D-B2EE-DE4D-C747-2870DD145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E3A5C-2243-4D62-94F5-52865F5465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523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211D73-6757-B9F2-79E9-C28D3C15FD05}"/>
              </a:ext>
            </a:extLst>
          </p:cNvPr>
          <p:cNvSpPr txBox="1"/>
          <p:nvPr/>
        </p:nvSpPr>
        <p:spPr>
          <a:xfrm>
            <a:off x="711200" y="889000"/>
            <a:ext cx="9652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800" b="1">
                <a:solidFill>
                  <a:srgbClr val="18324A"/>
                </a:solidFill>
                <a:latin typeface="Segoe UI" panose="020B0502040204020203" pitchFamily="34" charset="0"/>
              </a:rPr>
              <a:t>Dance Diet System Architecture</a:t>
            </a:r>
            <a:endParaRPr lang="ko-KR" altLang="en-US" sz="28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C3073A-6247-9B35-A267-33057B08AB2A}"/>
              </a:ext>
            </a:extLst>
          </p:cNvPr>
          <p:cNvSpPr txBox="1"/>
          <p:nvPr/>
        </p:nvSpPr>
        <p:spPr>
          <a:xfrm>
            <a:off x="711200" y="1498600"/>
            <a:ext cx="990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600">
                <a:solidFill>
                  <a:srgbClr val="687C90"/>
                </a:solidFill>
                <a:latin typeface="Segoe UI" panose="020B0502040204020203" pitchFamily="34" charset="0"/>
              </a:rPr>
              <a:t>Editable PowerPoint version rebuilt with native shapes and text for clean professor submission.</a:t>
            </a:r>
            <a:endParaRPr lang="ko-KR" altLang="en-US" sz="160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481902-CB21-D255-426A-898B526C9074}"/>
              </a:ext>
            </a:extLst>
          </p:cNvPr>
          <p:cNvSpPr/>
          <p:nvPr/>
        </p:nvSpPr>
        <p:spPr>
          <a:xfrm>
            <a:off x="711200" y="2489200"/>
            <a:ext cx="3175000" cy="88900"/>
          </a:xfrm>
          <a:prstGeom prst="rect">
            <a:avLst/>
          </a:prstGeom>
          <a:solidFill>
            <a:srgbClr val="2B6CB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BEDA30-68A3-142A-C2CC-18F4AE4366A1}"/>
              </a:ext>
            </a:extLst>
          </p:cNvPr>
          <p:cNvSpPr txBox="1"/>
          <p:nvPr/>
        </p:nvSpPr>
        <p:spPr>
          <a:xfrm>
            <a:off x="711200" y="2794000"/>
            <a:ext cx="106680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>
                <a:solidFill>
                  <a:srgbClr val="18324A"/>
                </a:solidFill>
                <a:latin typeface="Segoe UI" panose="020B0502040204020203" pitchFamily="34" charset="0"/>
              </a:rPr>
              <a:t>This deck presents the current relationship between the mobile client, the FastAPI backend, Supabase, and the planned AI server split.</a:t>
            </a:r>
            <a:endParaRPr lang="ko-KR" altLang="en-US" sz="2000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23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BDA5307-E5F0-4E47-648E-7A97E83703BB}"/>
              </a:ext>
            </a:extLst>
          </p:cNvPr>
          <p:cNvSpPr/>
          <p:nvPr/>
        </p:nvSpPr>
        <p:spPr>
          <a:xfrm>
            <a:off x="228600" y="177800"/>
            <a:ext cx="11734800" cy="647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0DDB2-6585-85C3-2EEC-D105B3905382}"/>
              </a:ext>
            </a:extLst>
          </p:cNvPr>
          <p:cNvSpPr txBox="1"/>
          <p:nvPr/>
        </p:nvSpPr>
        <p:spPr>
          <a:xfrm>
            <a:off x="457200" y="304800"/>
            <a:ext cx="558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8324A"/>
                </a:solidFill>
                <a:latin typeface="Segoe UI" panose="020B0502040204020203" pitchFamily="34" charset="0"/>
              </a:rPr>
              <a:t>Integrated Architecture Diagram</a:t>
            </a:r>
            <a:endParaRPr lang="ko-KR" altLang="en-US" sz="20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F02AF-E1D1-0D05-4847-F662ADC8BA49}"/>
              </a:ext>
            </a:extLst>
          </p:cNvPr>
          <p:cNvSpPr txBox="1"/>
          <p:nvPr/>
        </p:nvSpPr>
        <p:spPr>
          <a:xfrm>
            <a:off x="457200" y="609600"/>
            <a:ext cx="660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50">
                <a:solidFill>
                  <a:srgbClr val="687C90"/>
                </a:solidFill>
                <a:latin typeface="Segoe UI" panose="020B0502040204020203" pitchFamily="34" charset="0"/>
              </a:rPr>
              <a:t>Native PPT layout with no embedded text clipping</a:t>
            </a:r>
            <a:endParaRPr lang="ko-KR" altLang="en-US" sz="105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0109863-6875-A677-845B-BF5E6F88FCFD}"/>
              </a:ext>
            </a:extLst>
          </p:cNvPr>
          <p:cNvSpPr/>
          <p:nvPr/>
        </p:nvSpPr>
        <p:spPr>
          <a:xfrm>
            <a:off x="9144000" y="279400"/>
            <a:ext cx="2463800" cy="5334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D766D2D-8016-EC4D-DCA1-BA5FF0699E4F}"/>
              </a:ext>
            </a:extLst>
          </p:cNvPr>
          <p:cNvCxnSpPr/>
          <p:nvPr/>
        </p:nvCxnSpPr>
        <p:spPr>
          <a:xfrm>
            <a:off x="9347200" y="457200"/>
            <a:ext cx="457200" cy="0"/>
          </a:xfrm>
          <a:prstGeom prst="line">
            <a:avLst/>
          </a:prstGeom>
          <a:ln w="31750">
            <a:solidFill>
              <a:srgbClr val="2B6C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B7DFC93-C621-5C71-001A-7D3F95AD7637}"/>
              </a:ext>
            </a:extLst>
          </p:cNvPr>
          <p:cNvSpPr txBox="1"/>
          <p:nvPr/>
        </p:nvSpPr>
        <p:spPr>
          <a:xfrm>
            <a:off x="9906000" y="368300"/>
            <a:ext cx="127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18324A"/>
                </a:solidFill>
                <a:latin typeface="Segoe UI" panose="020B0502040204020203" pitchFamily="34" charset="0"/>
              </a:rPr>
              <a:t>Current</a:t>
            </a:r>
            <a:endParaRPr lang="ko-KR" altLang="en-US" sz="950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143FFE2-1A94-B61E-2E9F-C1906D9C229E}"/>
              </a:ext>
            </a:extLst>
          </p:cNvPr>
          <p:cNvCxnSpPr/>
          <p:nvPr/>
        </p:nvCxnSpPr>
        <p:spPr>
          <a:xfrm>
            <a:off x="9347200" y="635000"/>
            <a:ext cx="457200" cy="0"/>
          </a:xfrm>
          <a:prstGeom prst="line">
            <a:avLst/>
          </a:prstGeom>
          <a:ln w="31750">
            <a:solidFill>
              <a:srgbClr val="8794A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DDF66D0-10AF-2A26-2CEC-C88DB0A7D726}"/>
              </a:ext>
            </a:extLst>
          </p:cNvPr>
          <p:cNvSpPr txBox="1"/>
          <p:nvPr/>
        </p:nvSpPr>
        <p:spPr>
          <a:xfrm>
            <a:off x="9906000" y="546100"/>
            <a:ext cx="127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18324A"/>
                </a:solidFill>
                <a:latin typeface="Segoe UI" panose="020B0502040204020203" pitchFamily="34" charset="0"/>
              </a:rPr>
              <a:t>Planned</a:t>
            </a:r>
            <a:endParaRPr lang="ko-KR" altLang="en-US" sz="950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3249383-3566-F83A-FEC4-B7DAEB34CF63}"/>
              </a:ext>
            </a:extLst>
          </p:cNvPr>
          <p:cNvSpPr/>
          <p:nvPr/>
        </p:nvSpPr>
        <p:spPr>
          <a:xfrm>
            <a:off x="457200" y="1117600"/>
            <a:ext cx="3352800" cy="42418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2755A9E-0F6B-CDBE-98D0-8CE4D8DAE2A8}"/>
              </a:ext>
            </a:extLst>
          </p:cNvPr>
          <p:cNvSpPr/>
          <p:nvPr/>
        </p:nvSpPr>
        <p:spPr>
          <a:xfrm>
            <a:off x="4419600" y="1117600"/>
            <a:ext cx="3352800" cy="4241800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CAAC177-FD0E-53AF-C420-7C5A5CEAF653}"/>
              </a:ext>
            </a:extLst>
          </p:cNvPr>
          <p:cNvSpPr/>
          <p:nvPr/>
        </p:nvSpPr>
        <p:spPr>
          <a:xfrm>
            <a:off x="8382000" y="1117600"/>
            <a:ext cx="3352800" cy="4241800"/>
          </a:xfrm>
          <a:prstGeom prst="roundRect">
            <a:avLst/>
          </a:prstGeom>
          <a:solidFill>
            <a:srgbClr val="FFF4EC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219C99-E079-DC02-F6AF-A0FF3A717013}"/>
              </a:ext>
            </a:extLst>
          </p:cNvPr>
          <p:cNvSpPr txBox="1"/>
          <p:nvPr/>
        </p:nvSpPr>
        <p:spPr>
          <a:xfrm>
            <a:off x="685800" y="12954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8324A"/>
                </a:solidFill>
                <a:latin typeface="Segoe UI" panose="020B0502040204020203" pitchFamily="34" charset="0"/>
              </a:rPr>
              <a:t>1. dance-diet-client</a:t>
            </a:r>
            <a:endParaRPr lang="ko-KR" altLang="en-US" sz="14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602EC0-5A50-D710-28DB-CF14E01A1870}"/>
              </a:ext>
            </a:extLst>
          </p:cNvPr>
          <p:cNvSpPr txBox="1"/>
          <p:nvPr/>
        </p:nvSpPr>
        <p:spPr>
          <a:xfrm>
            <a:off x="685800" y="15113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87C90"/>
                </a:solidFill>
                <a:latin typeface="Segoe UI" panose="020B0502040204020203" pitchFamily="34" charset="0"/>
              </a:rPr>
              <a:t>Mobile application repo</a:t>
            </a:r>
            <a:endParaRPr lang="ko-KR" altLang="en-US" sz="95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EF39E3CD-038F-78AB-C046-4A98A247772D}"/>
              </a:ext>
            </a:extLst>
          </p:cNvPr>
          <p:cNvSpPr/>
          <p:nvPr/>
        </p:nvSpPr>
        <p:spPr>
          <a:xfrm>
            <a:off x="2717800" y="1270000"/>
            <a:ext cx="736600" cy="228600"/>
          </a:xfrm>
          <a:prstGeom prst="roundRect">
            <a:avLst>
              <a:gd name="adj" fmla="val 45000"/>
            </a:avLst>
          </a:prstGeom>
          <a:solidFill>
            <a:srgbClr val="E8F0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GitHub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12612FE-CD99-8B4F-1D89-0D21ED114849}"/>
              </a:ext>
            </a:extLst>
          </p:cNvPr>
          <p:cNvSpPr/>
          <p:nvPr/>
        </p:nvSpPr>
        <p:spPr>
          <a:xfrm>
            <a:off x="2717800" y="1536700"/>
            <a:ext cx="711200" cy="228600"/>
          </a:xfrm>
          <a:prstGeom prst="roundRect">
            <a:avLst>
              <a:gd name="adj" fmla="val 45000"/>
            </a:avLst>
          </a:prstGeom>
          <a:solidFill>
            <a:srgbClr val="E8F0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Mobile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6B051D-E178-6DC3-5297-00EB6D5070D0}"/>
              </a:ext>
            </a:extLst>
          </p:cNvPr>
          <p:cNvSpPr txBox="1"/>
          <p:nvPr/>
        </p:nvSpPr>
        <p:spPr>
          <a:xfrm>
            <a:off x="4648200" y="12954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8324A"/>
                </a:solidFill>
                <a:latin typeface="Segoe UI" panose="020B0502040204020203" pitchFamily="34" charset="0"/>
              </a:rPr>
              <a:t>2. dance-diet</a:t>
            </a:r>
            <a:endParaRPr lang="ko-KR" altLang="en-US" sz="14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DC027F-1837-D712-F01F-127244218435}"/>
              </a:ext>
            </a:extLst>
          </p:cNvPr>
          <p:cNvSpPr txBox="1"/>
          <p:nvPr/>
        </p:nvSpPr>
        <p:spPr>
          <a:xfrm>
            <a:off x="4648200" y="1511300"/>
            <a:ext cx="2235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87C90"/>
                </a:solidFill>
                <a:latin typeface="Segoe UI" panose="020B0502040204020203" pitchFamily="34" charset="0"/>
              </a:rPr>
              <a:t>Current backend repository</a:t>
            </a:r>
            <a:endParaRPr lang="ko-KR" altLang="en-US" sz="95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EE0BCA1-18AC-DCAE-7E67-A0D17B766505}"/>
              </a:ext>
            </a:extLst>
          </p:cNvPr>
          <p:cNvSpPr/>
          <p:nvPr/>
        </p:nvSpPr>
        <p:spPr>
          <a:xfrm>
            <a:off x="6680200" y="1270000"/>
            <a:ext cx="635000" cy="228600"/>
          </a:xfrm>
          <a:prstGeom prst="roundRect">
            <a:avLst>
              <a:gd name="adj" fmla="val 45000"/>
            </a:avLst>
          </a:prstGeom>
          <a:solidFill>
            <a:srgbClr val="E8F7EE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Local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50890F54-87E7-7619-0CE2-5446932A8451}"/>
              </a:ext>
            </a:extLst>
          </p:cNvPr>
          <p:cNvSpPr/>
          <p:nvPr/>
        </p:nvSpPr>
        <p:spPr>
          <a:xfrm>
            <a:off x="6680200" y="1536700"/>
            <a:ext cx="736600" cy="228600"/>
          </a:xfrm>
          <a:prstGeom prst="roundRect">
            <a:avLst>
              <a:gd name="adj" fmla="val 45000"/>
            </a:avLst>
          </a:prstGeom>
          <a:solidFill>
            <a:srgbClr val="E8F7EE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FastAPI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E86DE4-AA36-1AA5-45D0-8BDD22A8176C}"/>
              </a:ext>
            </a:extLst>
          </p:cNvPr>
          <p:cNvSpPr txBox="1"/>
          <p:nvPr/>
        </p:nvSpPr>
        <p:spPr>
          <a:xfrm>
            <a:off x="8610600" y="12954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8324A"/>
                </a:solidFill>
                <a:latin typeface="Segoe UI" panose="020B0502040204020203" pitchFamily="34" charset="0"/>
              </a:rPr>
              <a:t>3. AI server</a:t>
            </a:r>
            <a:endParaRPr lang="ko-KR" altLang="en-US" sz="14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F74B67-F9CC-7FB6-1133-BB8929F05A78}"/>
              </a:ext>
            </a:extLst>
          </p:cNvPr>
          <p:cNvSpPr txBox="1"/>
          <p:nvPr/>
        </p:nvSpPr>
        <p:spPr>
          <a:xfrm>
            <a:off x="8610600" y="15113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87C90"/>
                </a:solidFill>
                <a:latin typeface="Segoe UI" panose="020B0502040204020203" pitchFamily="34" charset="0"/>
              </a:rPr>
              <a:t>dance-diet-ai_server repo</a:t>
            </a:r>
            <a:endParaRPr lang="ko-KR" altLang="en-US" sz="95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E6D9BC5-8F73-D506-206E-EA1438EFCF56}"/>
              </a:ext>
            </a:extLst>
          </p:cNvPr>
          <p:cNvSpPr/>
          <p:nvPr/>
        </p:nvSpPr>
        <p:spPr>
          <a:xfrm>
            <a:off x="10642600" y="1270000"/>
            <a:ext cx="736600" cy="228600"/>
          </a:xfrm>
          <a:prstGeom prst="roundRect">
            <a:avLst>
              <a:gd name="adj" fmla="val 45000"/>
            </a:avLst>
          </a:prstGeom>
          <a:solidFill>
            <a:srgbClr val="FFF1E4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GitHub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D589687-B2E4-2833-5D41-0779CAC2BAEA}"/>
              </a:ext>
            </a:extLst>
          </p:cNvPr>
          <p:cNvSpPr/>
          <p:nvPr/>
        </p:nvSpPr>
        <p:spPr>
          <a:xfrm>
            <a:off x="10642600" y="1536700"/>
            <a:ext cx="558800" cy="228600"/>
          </a:xfrm>
          <a:prstGeom prst="roundRect">
            <a:avLst>
              <a:gd name="adj" fmla="val 45000"/>
            </a:avLst>
          </a:prstGeom>
          <a:solidFill>
            <a:srgbClr val="FFF1E4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AI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77F27D2-0011-2EA5-4DFB-0FF8DFB371B4}"/>
              </a:ext>
            </a:extLst>
          </p:cNvPr>
          <p:cNvSpPr/>
          <p:nvPr/>
        </p:nvSpPr>
        <p:spPr>
          <a:xfrm>
            <a:off x="685800" y="1828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635726-8C89-023A-48B2-9085EF16EFCB}"/>
              </a:ext>
            </a:extLst>
          </p:cNvPr>
          <p:cNvSpPr txBox="1"/>
          <p:nvPr/>
        </p:nvSpPr>
        <p:spPr>
          <a:xfrm>
            <a:off x="863600" y="1981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Mobile application shell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04A9172-F78B-7E4D-9E26-B3E15B12E178}"/>
              </a:ext>
            </a:extLst>
          </p:cNvPr>
          <p:cNvSpPr txBox="1"/>
          <p:nvPr/>
        </p:nvSpPr>
        <p:spPr>
          <a:xfrm>
            <a:off x="863600" y="2260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Expo / React Native app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Authentication, tabs, navigation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A829F26-1DB4-8044-2A4B-FBE20563D5EC}"/>
              </a:ext>
            </a:extLst>
          </p:cNvPr>
          <p:cNvSpPr/>
          <p:nvPr/>
        </p:nvSpPr>
        <p:spPr>
          <a:xfrm>
            <a:off x="685800" y="2844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162F72-CC64-00F5-AF04-248F1BCBFFEE}"/>
              </a:ext>
            </a:extLst>
          </p:cNvPr>
          <p:cNvSpPr txBox="1"/>
          <p:nvPr/>
        </p:nvSpPr>
        <p:spPr>
          <a:xfrm>
            <a:off x="863600" y="2997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User experience screens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31244EE-2D2D-B387-153C-B9F0A838825A}"/>
              </a:ext>
            </a:extLst>
          </p:cNvPr>
          <p:cNvSpPr txBox="1"/>
          <p:nvPr/>
        </p:nvSpPr>
        <p:spPr>
          <a:xfrm>
            <a:off x="863600" y="3276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Home, Classes, Record, Food, Profile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Workout guide and food capture UI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6A2DAD4-EB82-2C8F-0076-53275BDF4C3F}"/>
              </a:ext>
            </a:extLst>
          </p:cNvPr>
          <p:cNvSpPr/>
          <p:nvPr/>
        </p:nvSpPr>
        <p:spPr>
          <a:xfrm>
            <a:off x="685800" y="3860800"/>
            <a:ext cx="2895600" cy="1168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C40377-8480-A17F-5633-06F44368C73B}"/>
              </a:ext>
            </a:extLst>
          </p:cNvPr>
          <p:cNvSpPr txBox="1"/>
          <p:nvPr/>
        </p:nvSpPr>
        <p:spPr>
          <a:xfrm>
            <a:off x="863600" y="4013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Communication layer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3396E7-2489-9E0B-3867-9A2475D2DF8F}"/>
              </a:ext>
            </a:extLst>
          </p:cNvPr>
          <p:cNvSpPr txBox="1"/>
          <p:nvPr/>
        </p:nvSpPr>
        <p:spPr>
          <a:xfrm>
            <a:off x="863600" y="4292600"/>
            <a:ext cx="2540000" cy="4524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REST: general-api.ts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Realtime workout stream over WebSocket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Optional direct gRPC extension path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B342413-E030-61DB-8ECB-1B5E1836DA0B}"/>
              </a:ext>
            </a:extLst>
          </p:cNvPr>
          <p:cNvSpPr/>
          <p:nvPr/>
        </p:nvSpPr>
        <p:spPr>
          <a:xfrm>
            <a:off x="4648200" y="1828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51E7E2-27BA-A781-A28B-5A4D15A97E73}"/>
              </a:ext>
            </a:extLst>
          </p:cNvPr>
          <p:cNvSpPr txBox="1"/>
          <p:nvPr/>
        </p:nvSpPr>
        <p:spPr>
          <a:xfrm>
            <a:off x="4826000" y="1981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General backend server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C00E772-EC4A-FB48-C06B-ED86886C7C1A}"/>
              </a:ext>
            </a:extLst>
          </p:cNvPr>
          <p:cNvSpPr txBox="1"/>
          <p:nvPr/>
        </p:nvSpPr>
        <p:spPr>
          <a:xfrm>
            <a:off x="4826000" y="2260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FastAPI request coordinator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main.py -&gt; general_server/server.py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CEFF091-1F37-7511-9D02-8F0AAB397149}"/>
              </a:ext>
            </a:extLst>
          </p:cNvPr>
          <p:cNvSpPr/>
          <p:nvPr/>
        </p:nvSpPr>
        <p:spPr>
          <a:xfrm>
            <a:off x="4648200" y="2844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E2F6ED-6EBB-83E0-408A-D21B24FB5B28}"/>
              </a:ext>
            </a:extLst>
          </p:cNvPr>
          <p:cNvSpPr txBox="1"/>
          <p:nvPr/>
        </p:nvSpPr>
        <p:spPr>
          <a:xfrm>
            <a:off x="4826000" y="2997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API and live session layer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9DBB72-352C-31AB-7C83-8B26CAA62EDB}"/>
              </a:ext>
            </a:extLst>
          </p:cNvPr>
          <p:cNvSpPr txBox="1"/>
          <p:nvPr/>
        </p:nvSpPr>
        <p:spPr>
          <a:xfrm>
            <a:off x="4826000" y="3276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/api/* app endpoints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/api/live/session and /ws/live/{session_id}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6A1B42D-25AC-3BD1-FEF7-2804C8243202}"/>
              </a:ext>
            </a:extLst>
          </p:cNvPr>
          <p:cNvSpPr/>
          <p:nvPr/>
        </p:nvSpPr>
        <p:spPr>
          <a:xfrm>
            <a:off x="4648200" y="3860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6623B9-F0F7-AD89-CE1C-F0B0C7003A0C}"/>
              </a:ext>
            </a:extLst>
          </p:cNvPr>
          <p:cNvSpPr txBox="1"/>
          <p:nvPr/>
        </p:nvSpPr>
        <p:spPr>
          <a:xfrm>
            <a:off x="4826000" y="4013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Shared backend resources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CC6C3F-CF06-07CD-C158-7BD1B109C3A6}"/>
              </a:ext>
            </a:extLst>
          </p:cNvPr>
          <p:cNvSpPr txBox="1"/>
          <p:nvPr/>
        </p:nvSpPr>
        <p:spPr>
          <a:xfrm>
            <a:off x="4826000" y="4292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Pydantic schemas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Supabase profile + storage integration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2AB40B96-BEA6-93A2-700F-9BE832CC1B46}"/>
              </a:ext>
            </a:extLst>
          </p:cNvPr>
          <p:cNvSpPr/>
          <p:nvPr/>
        </p:nvSpPr>
        <p:spPr>
          <a:xfrm>
            <a:off x="8610600" y="1828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705406-48E7-A793-7339-F9D79F2A910F}"/>
              </a:ext>
            </a:extLst>
          </p:cNvPr>
          <p:cNvSpPr txBox="1"/>
          <p:nvPr/>
        </p:nvSpPr>
        <p:spPr>
          <a:xfrm>
            <a:off x="8788400" y="1981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Dedicated AI server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B19FEF-6749-096D-D162-8DC38056945E}"/>
              </a:ext>
            </a:extLst>
          </p:cNvPr>
          <p:cNvSpPr txBox="1"/>
          <p:nvPr/>
        </p:nvSpPr>
        <p:spPr>
          <a:xfrm>
            <a:off x="8788400" y="2260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Inference-focused service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Separated from standard app APIs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628FA09C-B4D4-73B5-7F73-90F5D033D6D1}"/>
              </a:ext>
            </a:extLst>
          </p:cNvPr>
          <p:cNvSpPr/>
          <p:nvPr/>
        </p:nvSpPr>
        <p:spPr>
          <a:xfrm>
            <a:off x="8610600" y="2844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1DF4C4-2C9E-F210-42F6-392E1B312E1E}"/>
              </a:ext>
            </a:extLst>
          </p:cNvPr>
          <p:cNvSpPr txBox="1"/>
          <p:nvPr/>
        </p:nvSpPr>
        <p:spPr>
          <a:xfrm>
            <a:off x="8788400" y="2997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AI analysis scope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58E1EBE-98C6-D44F-A590-8BCDB8FB76CA}"/>
              </a:ext>
            </a:extLst>
          </p:cNvPr>
          <p:cNvSpPr txBox="1"/>
          <p:nvPr/>
        </p:nvSpPr>
        <p:spPr>
          <a:xfrm>
            <a:off x="8788400" y="3276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Pose analysis, GIF analysis, food analysis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Reusable for later model expansion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2AE432DD-9118-4200-FCD7-2BF0946CC988}"/>
              </a:ext>
            </a:extLst>
          </p:cNvPr>
          <p:cNvSpPr/>
          <p:nvPr/>
        </p:nvSpPr>
        <p:spPr>
          <a:xfrm>
            <a:off x="8610600" y="3860800"/>
            <a:ext cx="2895600" cy="1168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E4FD65-8889-28CF-B19A-62B18F4A398F}"/>
              </a:ext>
            </a:extLst>
          </p:cNvPr>
          <p:cNvSpPr txBox="1"/>
          <p:nvPr/>
        </p:nvSpPr>
        <p:spPr>
          <a:xfrm>
            <a:off x="8788400" y="4013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Integration paths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1B8837-6DDF-681B-D013-8DBFB74A02D8}"/>
              </a:ext>
            </a:extLst>
          </p:cNvPr>
          <p:cNvSpPr txBox="1"/>
          <p:nvPr/>
        </p:nvSpPr>
        <p:spPr>
          <a:xfrm>
            <a:off x="8788400" y="4292600"/>
            <a:ext cx="2540000" cy="4524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Backend proxy via AI_HOST:8001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Optional mobile-to-AI gRPC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Future high-load AI processing path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125EB01-A51D-52F5-7D8F-0F8FD93D38DA}"/>
              </a:ext>
            </a:extLst>
          </p:cNvPr>
          <p:cNvSpPr/>
          <p:nvPr/>
        </p:nvSpPr>
        <p:spPr>
          <a:xfrm>
            <a:off x="4445000" y="5588000"/>
            <a:ext cx="3302000" cy="711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9490529-1A4B-A26A-DEDA-7D31F05A20CD}"/>
              </a:ext>
            </a:extLst>
          </p:cNvPr>
          <p:cNvSpPr txBox="1"/>
          <p:nvPr/>
        </p:nvSpPr>
        <p:spPr>
          <a:xfrm>
            <a:off x="4724400" y="5753100"/>
            <a:ext cx="127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Supabase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F6E1EA9-7E72-5E26-97D3-A8BBF3F86152}"/>
              </a:ext>
            </a:extLst>
          </p:cNvPr>
          <p:cNvSpPr txBox="1"/>
          <p:nvPr/>
        </p:nvSpPr>
        <p:spPr>
          <a:xfrm>
            <a:off x="4724400" y="59817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87C90"/>
                </a:solidFill>
                <a:latin typeface="Segoe UI" panose="020B0502040204020203" pitchFamily="34" charset="0"/>
              </a:rPr>
              <a:t>Profile DB and image storage</a:t>
            </a:r>
            <a:endParaRPr lang="ko-KR" altLang="en-US" sz="95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9B21E8E-7FA7-89F9-8B65-4B55689C112C}"/>
              </a:ext>
            </a:extLst>
          </p:cNvPr>
          <p:cNvCxnSpPr/>
          <p:nvPr/>
        </p:nvCxnSpPr>
        <p:spPr>
          <a:xfrm>
            <a:off x="3352800" y="4292600"/>
            <a:ext cx="1066800" cy="0"/>
          </a:xfrm>
          <a:prstGeom prst="line">
            <a:avLst/>
          </a:prstGeom>
          <a:ln w="30480">
            <a:solidFill>
              <a:srgbClr val="2B6C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BDBF3C1-CF38-A8D9-6D20-BDEDB42A3F49}"/>
              </a:ext>
            </a:extLst>
          </p:cNvPr>
          <p:cNvSpPr/>
          <p:nvPr/>
        </p:nvSpPr>
        <p:spPr>
          <a:xfrm>
            <a:off x="3454400" y="4076700"/>
            <a:ext cx="660400" cy="228600"/>
          </a:xfrm>
          <a:prstGeom prst="roundRect">
            <a:avLst>
              <a:gd name="adj" fmla="val 45000"/>
            </a:avLst>
          </a:prstGeom>
          <a:solidFill>
            <a:srgbClr val="E8F0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HTTP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D4F30A6-8C9F-BFEB-642E-79EED02884CE}"/>
              </a:ext>
            </a:extLst>
          </p:cNvPr>
          <p:cNvCxnSpPr/>
          <p:nvPr/>
        </p:nvCxnSpPr>
        <p:spPr>
          <a:xfrm>
            <a:off x="3352800" y="4724400"/>
            <a:ext cx="1066800" cy="0"/>
          </a:xfrm>
          <a:prstGeom prst="line">
            <a:avLst/>
          </a:prstGeom>
          <a:ln w="30480">
            <a:solidFill>
              <a:srgbClr val="2B6C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BA042EE6-A9DD-FC25-3DE7-61E7C9ABD9C8}"/>
              </a:ext>
            </a:extLst>
          </p:cNvPr>
          <p:cNvSpPr/>
          <p:nvPr/>
        </p:nvSpPr>
        <p:spPr>
          <a:xfrm>
            <a:off x="3327400" y="4787900"/>
            <a:ext cx="914400" cy="228600"/>
          </a:xfrm>
          <a:prstGeom prst="roundRect">
            <a:avLst>
              <a:gd name="adj" fmla="val 45000"/>
            </a:avLst>
          </a:prstGeom>
          <a:solidFill>
            <a:srgbClr val="E8F0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 dirty="0">
                <a:solidFill>
                  <a:srgbClr val="18324A"/>
                </a:solidFill>
                <a:latin typeface="Segoe UI" panose="020B0502040204020203" pitchFamily="34" charset="0"/>
              </a:rPr>
              <a:t>WebSocket</a:t>
            </a:r>
            <a:endParaRPr lang="ko-KR" altLang="en-US" sz="950" b="1" dirty="0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1F37DFFC-5803-AB49-C854-7CBB8C9155FE}"/>
              </a:ext>
            </a:extLst>
          </p:cNvPr>
          <p:cNvCxnSpPr/>
          <p:nvPr/>
        </p:nvCxnSpPr>
        <p:spPr>
          <a:xfrm>
            <a:off x="7772400" y="4292600"/>
            <a:ext cx="609600" cy="0"/>
          </a:xfrm>
          <a:prstGeom prst="line">
            <a:avLst/>
          </a:prstGeom>
          <a:ln w="27940">
            <a:solidFill>
              <a:srgbClr val="8794A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B437CED-ACC7-C199-96D5-46F6BFB6F33D}"/>
              </a:ext>
            </a:extLst>
          </p:cNvPr>
          <p:cNvSpPr/>
          <p:nvPr/>
        </p:nvSpPr>
        <p:spPr>
          <a:xfrm>
            <a:off x="7823200" y="4076700"/>
            <a:ext cx="787400" cy="228600"/>
          </a:xfrm>
          <a:prstGeom prst="roundRect">
            <a:avLst>
              <a:gd name="adj" fmla="val 45000"/>
            </a:avLst>
          </a:prstGeom>
          <a:solidFill>
            <a:srgbClr val="F5F7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AI proxy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15E3F3A-6824-9F09-D844-10EDA62A3ACD}"/>
              </a:ext>
            </a:extLst>
          </p:cNvPr>
          <p:cNvSpPr/>
          <p:nvPr/>
        </p:nvSpPr>
        <p:spPr>
          <a:xfrm>
            <a:off x="3429000" y="4448776"/>
            <a:ext cx="711200" cy="228600"/>
          </a:xfrm>
          <a:prstGeom prst="roundRect">
            <a:avLst>
              <a:gd name="adj" fmla="val 45000"/>
            </a:avLst>
          </a:prstGeom>
          <a:solidFill>
            <a:srgbClr val="F5F7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 dirty="0" err="1">
                <a:solidFill>
                  <a:srgbClr val="18324A"/>
                </a:solidFill>
                <a:latin typeface="Segoe UI" panose="020B0502040204020203" pitchFamily="34" charset="0"/>
              </a:rPr>
              <a:t>gRPC</a:t>
            </a:r>
            <a:endParaRPr lang="ko-KR" altLang="en-US" sz="950" b="1" dirty="0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D6F1C534-1872-155C-3EAB-3A8347C49530}"/>
              </a:ext>
            </a:extLst>
          </p:cNvPr>
          <p:cNvCxnSpPr/>
          <p:nvPr/>
        </p:nvCxnSpPr>
        <p:spPr>
          <a:xfrm>
            <a:off x="6096000" y="4699000"/>
            <a:ext cx="0" cy="889000"/>
          </a:xfrm>
          <a:prstGeom prst="line">
            <a:avLst/>
          </a:prstGeom>
          <a:ln w="27940">
            <a:solidFill>
              <a:srgbClr val="2B6C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별: 꼭짓점 5개 65">
            <a:extLst>
              <a:ext uri="{FF2B5EF4-FFF2-40B4-BE49-F238E27FC236}">
                <a16:creationId xmlns:a16="http://schemas.microsoft.com/office/drawing/2014/main" id="{7572D1C4-8F33-1A4A-99D1-D0195ABE191F}"/>
              </a:ext>
            </a:extLst>
          </p:cNvPr>
          <p:cNvSpPr/>
          <p:nvPr/>
        </p:nvSpPr>
        <p:spPr>
          <a:xfrm>
            <a:off x="3388497" y="4462422"/>
            <a:ext cx="165100" cy="18577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558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46B4-2C80-DD3F-70F0-6CAB08E4B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DB84A50-B6FE-41E0-B7DE-A835D1784196}"/>
              </a:ext>
            </a:extLst>
          </p:cNvPr>
          <p:cNvSpPr/>
          <p:nvPr/>
        </p:nvSpPr>
        <p:spPr>
          <a:xfrm>
            <a:off x="228600" y="177800"/>
            <a:ext cx="11734800" cy="647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97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A5E6F1-F6E3-8B7F-4768-B3E6D664B9CC}"/>
              </a:ext>
            </a:extLst>
          </p:cNvPr>
          <p:cNvSpPr txBox="1"/>
          <p:nvPr/>
        </p:nvSpPr>
        <p:spPr>
          <a:xfrm>
            <a:off x="457200" y="304800"/>
            <a:ext cx="5588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000" b="1">
                <a:solidFill>
                  <a:srgbClr val="18324A"/>
                </a:solidFill>
                <a:latin typeface="Segoe UI" panose="020B0502040204020203" pitchFamily="34" charset="0"/>
              </a:rPr>
              <a:t>Integrated Architecture Diagram</a:t>
            </a:r>
            <a:endParaRPr lang="ko-KR" altLang="en-US" sz="20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C6081-234A-E407-2E08-61DE41A38BB5}"/>
              </a:ext>
            </a:extLst>
          </p:cNvPr>
          <p:cNvSpPr txBox="1"/>
          <p:nvPr/>
        </p:nvSpPr>
        <p:spPr>
          <a:xfrm>
            <a:off x="457200" y="609600"/>
            <a:ext cx="660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50">
                <a:solidFill>
                  <a:srgbClr val="687C90"/>
                </a:solidFill>
                <a:latin typeface="Segoe UI" panose="020B0502040204020203" pitchFamily="34" charset="0"/>
              </a:rPr>
              <a:t>Native PPT layout with no embedded text clipping</a:t>
            </a:r>
            <a:endParaRPr lang="ko-KR" altLang="en-US" sz="105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C1408E4-6864-3DDE-0BE8-A54507B6B37D}"/>
              </a:ext>
            </a:extLst>
          </p:cNvPr>
          <p:cNvSpPr/>
          <p:nvPr/>
        </p:nvSpPr>
        <p:spPr>
          <a:xfrm>
            <a:off x="9144000" y="279400"/>
            <a:ext cx="2463800" cy="5334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D5141E4-DFFC-1324-E8A5-674DF5B9C2D3}"/>
              </a:ext>
            </a:extLst>
          </p:cNvPr>
          <p:cNvCxnSpPr/>
          <p:nvPr/>
        </p:nvCxnSpPr>
        <p:spPr>
          <a:xfrm>
            <a:off x="9347200" y="457200"/>
            <a:ext cx="457200" cy="0"/>
          </a:xfrm>
          <a:prstGeom prst="line">
            <a:avLst/>
          </a:prstGeom>
          <a:ln w="31750">
            <a:solidFill>
              <a:srgbClr val="2B6C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E1321E-ED10-BFBF-A406-ADFE116BBAC4}"/>
              </a:ext>
            </a:extLst>
          </p:cNvPr>
          <p:cNvSpPr txBox="1"/>
          <p:nvPr/>
        </p:nvSpPr>
        <p:spPr>
          <a:xfrm>
            <a:off x="9906000" y="368300"/>
            <a:ext cx="127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18324A"/>
                </a:solidFill>
                <a:latin typeface="Segoe UI" panose="020B0502040204020203" pitchFamily="34" charset="0"/>
              </a:rPr>
              <a:t>Current</a:t>
            </a:r>
            <a:endParaRPr lang="ko-KR" altLang="en-US" sz="950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C022500-C700-70F5-61DA-6A2BBD84E315}"/>
              </a:ext>
            </a:extLst>
          </p:cNvPr>
          <p:cNvCxnSpPr/>
          <p:nvPr/>
        </p:nvCxnSpPr>
        <p:spPr>
          <a:xfrm>
            <a:off x="9347200" y="635000"/>
            <a:ext cx="457200" cy="0"/>
          </a:xfrm>
          <a:prstGeom prst="line">
            <a:avLst/>
          </a:prstGeom>
          <a:ln w="31750">
            <a:solidFill>
              <a:srgbClr val="8794A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D2C1BE-7A3B-75BB-4984-9C9822EEB6BD}"/>
              </a:ext>
            </a:extLst>
          </p:cNvPr>
          <p:cNvSpPr txBox="1"/>
          <p:nvPr/>
        </p:nvSpPr>
        <p:spPr>
          <a:xfrm>
            <a:off x="9906000" y="546100"/>
            <a:ext cx="1270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18324A"/>
                </a:solidFill>
                <a:latin typeface="Segoe UI" panose="020B0502040204020203" pitchFamily="34" charset="0"/>
              </a:rPr>
              <a:t>Planned</a:t>
            </a:r>
            <a:endParaRPr lang="ko-KR" altLang="en-US" sz="950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7F317FE-D28F-7E2F-08E3-21F291697A93}"/>
              </a:ext>
            </a:extLst>
          </p:cNvPr>
          <p:cNvSpPr/>
          <p:nvPr/>
        </p:nvSpPr>
        <p:spPr>
          <a:xfrm>
            <a:off x="457200" y="1117600"/>
            <a:ext cx="3352800" cy="4241800"/>
          </a:xfrm>
          <a:prstGeom prst="roundRect">
            <a:avLst/>
          </a:prstGeom>
          <a:solidFill>
            <a:srgbClr val="EEF4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6A77185-684E-A69D-6686-0A61C1BDDAD8}"/>
              </a:ext>
            </a:extLst>
          </p:cNvPr>
          <p:cNvSpPr/>
          <p:nvPr/>
        </p:nvSpPr>
        <p:spPr>
          <a:xfrm>
            <a:off x="4419600" y="1117600"/>
            <a:ext cx="3352800" cy="4241800"/>
          </a:xfrm>
          <a:prstGeom prst="roundRect">
            <a:avLst/>
          </a:prstGeom>
          <a:solidFill>
            <a:srgbClr val="EEF8F2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423C602-2F18-3E18-8E68-0ABC3897AE5B}"/>
              </a:ext>
            </a:extLst>
          </p:cNvPr>
          <p:cNvSpPr/>
          <p:nvPr/>
        </p:nvSpPr>
        <p:spPr>
          <a:xfrm>
            <a:off x="8382000" y="1117600"/>
            <a:ext cx="3352800" cy="4241800"/>
          </a:xfrm>
          <a:prstGeom prst="roundRect">
            <a:avLst/>
          </a:prstGeom>
          <a:solidFill>
            <a:srgbClr val="FFF4EC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9A0A10-7650-33E9-F221-F9C9F406BA25}"/>
              </a:ext>
            </a:extLst>
          </p:cNvPr>
          <p:cNvSpPr txBox="1"/>
          <p:nvPr/>
        </p:nvSpPr>
        <p:spPr>
          <a:xfrm>
            <a:off x="685800" y="12954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8324A"/>
                </a:solidFill>
                <a:latin typeface="Segoe UI" panose="020B0502040204020203" pitchFamily="34" charset="0"/>
              </a:rPr>
              <a:t>1. dance-diet-client</a:t>
            </a:r>
            <a:endParaRPr lang="ko-KR" altLang="en-US" sz="14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B2E9E3-2852-A752-0C6B-8A5D40425110}"/>
              </a:ext>
            </a:extLst>
          </p:cNvPr>
          <p:cNvSpPr txBox="1"/>
          <p:nvPr/>
        </p:nvSpPr>
        <p:spPr>
          <a:xfrm>
            <a:off x="685800" y="1511300"/>
            <a:ext cx="2159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87C90"/>
                </a:solidFill>
                <a:latin typeface="Segoe UI" panose="020B0502040204020203" pitchFamily="34" charset="0"/>
              </a:rPr>
              <a:t>Mobile application repo</a:t>
            </a:r>
            <a:endParaRPr lang="ko-KR" altLang="en-US" sz="95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7C6DB2D-A5FC-2887-F9C1-D76E288BC2D6}"/>
              </a:ext>
            </a:extLst>
          </p:cNvPr>
          <p:cNvSpPr/>
          <p:nvPr/>
        </p:nvSpPr>
        <p:spPr>
          <a:xfrm>
            <a:off x="2717800" y="1270000"/>
            <a:ext cx="736600" cy="228600"/>
          </a:xfrm>
          <a:prstGeom prst="roundRect">
            <a:avLst>
              <a:gd name="adj" fmla="val 45000"/>
            </a:avLst>
          </a:prstGeom>
          <a:solidFill>
            <a:srgbClr val="E8F0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GitHub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9B2067B-A290-7842-B07A-47C8C6560B78}"/>
              </a:ext>
            </a:extLst>
          </p:cNvPr>
          <p:cNvSpPr/>
          <p:nvPr/>
        </p:nvSpPr>
        <p:spPr>
          <a:xfrm>
            <a:off x="2717800" y="1536700"/>
            <a:ext cx="711200" cy="228600"/>
          </a:xfrm>
          <a:prstGeom prst="roundRect">
            <a:avLst>
              <a:gd name="adj" fmla="val 45000"/>
            </a:avLst>
          </a:prstGeom>
          <a:solidFill>
            <a:srgbClr val="E8F0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Mobile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C8D2C3-178B-2414-575A-68687B286ED2}"/>
              </a:ext>
            </a:extLst>
          </p:cNvPr>
          <p:cNvSpPr txBox="1"/>
          <p:nvPr/>
        </p:nvSpPr>
        <p:spPr>
          <a:xfrm>
            <a:off x="4648200" y="12954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8324A"/>
                </a:solidFill>
                <a:latin typeface="Segoe UI" panose="020B0502040204020203" pitchFamily="34" charset="0"/>
              </a:rPr>
              <a:t>2. dance-diet</a:t>
            </a:r>
            <a:endParaRPr lang="ko-KR" altLang="en-US" sz="14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6543D4-2BBB-DC8D-7796-27171C7E7264}"/>
              </a:ext>
            </a:extLst>
          </p:cNvPr>
          <p:cNvSpPr txBox="1"/>
          <p:nvPr/>
        </p:nvSpPr>
        <p:spPr>
          <a:xfrm>
            <a:off x="4648200" y="1511300"/>
            <a:ext cx="22352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87C90"/>
                </a:solidFill>
                <a:latin typeface="Segoe UI" panose="020B0502040204020203" pitchFamily="34" charset="0"/>
              </a:rPr>
              <a:t>Current backend repository</a:t>
            </a:r>
            <a:endParaRPr lang="ko-KR" altLang="en-US" sz="95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5098F82-EC01-0C14-30D5-DC31D1DBF38A}"/>
              </a:ext>
            </a:extLst>
          </p:cNvPr>
          <p:cNvSpPr/>
          <p:nvPr/>
        </p:nvSpPr>
        <p:spPr>
          <a:xfrm>
            <a:off x="6680200" y="1270000"/>
            <a:ext cx="635000" cy="228600"/>
          </a:xfrm>
          <a:prstGeom prst="roundRect">
            <a:avLst>
              <a:gd name="adj" fmla="val 45000"/>
            </a:avLst>
          </a:prstGeom>
          <a:solidFill>
            <a:srgbClr val="E8F7EE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Local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C1DD6F1-1088-AB86-F548-7C3955EA57F0}"/>
              </a:ext>
            </a:extLst>
          </p:cNvPr>
          <p:cNvSpPr/>
          <p:nvPr/>
        </p:nvSpPr>
        <p:spPr>
          <a:xfrm>
            <a:off x="6680200" y="1536700"/>
            <a:ext cx="736600" cy="228600"/>
          </a:xfrm>
          <a:prstGeom prst="roundRect">
            <a:avLst>
              <a:gd name="adj" fmla="val 45000"/>
            </a:avLst>
          </a:prstGeom>
          <a:solidFill>
            <a:srgbClr val="E8F7EE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FastAPI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874620-1588-4556-030E-00BB2DB3578A}"/>
              </a:ext>
            </a:extLst>
          </p:cNvPr>
          <p:cNvSpPr txBox="1"/>
          <p:nvPr/>
        </p:nvSpPr>
        <p:spPr>
          <a:xfrm>
            <a:off x="8610600" y="12954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 b="1">
                <a:solidFill>
                  <a:srgbClr val="18324A"/>
                </a:solidFill>
                <a:latin typeface="Segoe UI" panose="020B0502040204020203" pitchFamily="34" charset="0"/>
              </a:rPr>
              <a:t>3. AI server</a:t>
            </a:r>
            <a:endParaRPr lang="ko-KR" altLang="en-US" sz="14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084F1D-2294-6ABD-BD84-615DB87983F0}"/>
              </a:ext>
            </a:extLst>
          </p:cNvPr>
          <p:cNvSpPr txBox="1"/>
          <p:nvPr/>
        </p:nvSpPr>
        <p:spPr>
          <a:xfrm>
            <a:off x="8610600" y="15113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87C90"/>
                </a:solidFill>
                <a:latin typeface="Segoe UI" panose="020B0502040204020203" pitchFamily="34" charset="0"/>
              </a:rPr>
              <a:t>dance-diet-ai_server repo</a:t>
            </a:r>
            <a:endParaRPr lang="ko-KR" altLang="en-US" sz="95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09E8E2B-4F0C-902A-A0F4-850070C4CA4B}"/>
              </a:ext>
            </a:extLst>
          </p:cNvPr>
          <p:cNvSpPr/>
          <p:nvPr/>
        </p:nvSpPr>
        <p:spPr>
          <a:xfrm>
            <a:off x="10642600" y="1270000"/>
            <a:ext cx="736600" cy="228600"/>
          </a:xfrm>
          <a:prstGeom prst="roundRect">
            <a:avLst>
              <a:gd name="adj" fmla="val 45000"/>
            </a:avLst>
          </a:prstGeom>
          <a:solidFill>
            <a:srgbClr val="FFF1E4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GitHub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33DD2C91-9E5E-9B13-B53E-17F17C2EA2AD}"/>
              </a:ext>
            </a:extLst>
          </p:cNvPr>
          <p:cNvSpPr/>
          <p:nvPr/>
        </p:nvSpPr>
        <p:spPr>
          <a:xfrm>
            <a:off x="10642600" y="1536700"/>
            <a:ext cx="558800" cy="228600"/>
          </a:xfrm>
          <a:prstGeom prst="roundRect">
            <a:avLst>
              <a:gd name="adj" fmla="val 45000"/>
            </a:avLst>
          </a:prstGeom>
          <a:solidFill>
            <a:srgbClr val="FFF1E4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AI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7FA0D918-32C9-DF69-EEE1-F427C497E9D5}"/>
              </a:ext>
            </a:extLst>
          </p:cNvPr>
          <p:cNvSpPr/>
          <p:nvPr/>
        </p:nvSpPr>
        <p:spPr>
          <a:xfrm>
            <a:off x="685800" y="1828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37C07F8-410F-DD21-8AA4-AA89238E9FB3}"/>
              </a:ext>
            </a:extLst>
          </p:cNvPr>
          <p:cNvSpPr txBox="1"/>
          <p:nvPr/>
        </p:nvSpPr>
        <p:spPr>
          <a:xfrm>
            <a:off x="863600" y="1981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Mobile application shell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93DCD7-BCAD-723A-9C05-8EB003DB37F7}"/>
              </a:ext>
            </a:extLst>
          </p:cNvPr>
          <p:cNvSpPr txBox="1"/>
          <p:nvPr/>
        </p:nvSpPr>
        <p:spPr>
          <a:xfrm>
            <a:off x="863600" y="2260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Expo / React Native app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Authentication, tabs, navigation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1EC9DC3F-2E10-EF0F-FA40-DD90E7EFD148}"/>
              </a:ext>
            </a:extLst>
          </p:cNvPr>
          <p:cNvSpPr/>
          <p:nvPr/>
        </p:nvSpPr>
        <p:spPr>
          <a:xfrm>
            <a:off x="685800" y="2844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4C57FC-A3E0-A481-9F4B-5AD7DC160758}"/>
              </a:ext>
            </a:extLst>
          </p:cNvPr>
          <p:cNvSpPr txBox="1"/>
          <p:nvPr/>
        </p:nvSpPr>
        <p:spPr>
          <a:xfrm>
            <a:off x="863600" y="2997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User experience screens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6AF8B7-7A79-F846-9FA3-8751D98C4CF1}"/>
              </a:ext>
            </a:extLst>
          </p:cNvPr>
          <p:cNvSpPr txBox="1"/>
          <p:nvPr/>
        </p:nvSpPr>
        <p:spPr>
          <a:xfrm>
            <a:off x="863600" y="3276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Home, Classes, Record, Food, Profile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Workout guide and food capture UI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4A29045-F398-3AD7-93C1-BF46F4C7C2B8}"/>
              </a:ext>
            </a:extLst>
          </p:cNvPr>
          <p:cNvSpPr/>
          <p:nvPr/>
        </p:nvSpPr>
        <p:spPr>
          <a:xfrm>
            <a:off x="685800" y="3860800"/>
            <a:ext cx="2895600" cy="1168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E1FD7D-9326-CA9D-C5FE-106BCE05E32B}"/>
              </a:ext>
            </a:extLst>
          </p:cNvPr>
          <p:cNvSpPr txBox="1"/>
          <p:nvPr/>
        </p:nvSpPr>
        <p:spPr>
          <a:xfrm>
            <a:off x="863600" y="4013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Communication layer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90D374-E9CE-BEA2-2222-132B10438E98}"/>
              </a:ext>
            </a:extLst>
          </p:cNvPr>
          <p:cNvSpPr txBox="1"/>
          <p:nvPr/>
        </p:nvSpPr>
        <p:spPr>
          <a:xfrm>
            <a:off x="863600" y="4292600"/>
            <a:ext cx="2540000" cy="4524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REST: general-api.ts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Realtime workout stream over WebSocket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Optional direct gRPC extension path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54691BA-4D06-F732-AB35-EDAAE5DBBE49}"/>
              </a:ext>
            </a:extLst>
          </p:cNvPr>
          <p:cNvSpPr/>
          <p:nvPr/>
        </p:nvSpPr>
        <p:spPr>
          <a:xfrm>
            <a:off x="4648200" y="1828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8216D0-99AB-9176-0438-754D4A289663}"/>
              </a:ext>
            </a:extLst>
          </p:cNvPr>
          <p:cNvSpPr txBox="1"/>
          <p:nvPr/>
        </p:nvSpPr>
        <p:spPr>
          <a:xfrm>
            <a:off x="4826000" y="1981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General backend server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38C2E1-3B2A-0661-B7FB-A51655CB017C}"/>
              </a:ext>
            </a:extLst>
          </p:cNvPr>
          <p:cNvSpPr txBox="1"/>
          <p:nvPr/>
        </p:nvSpPr>
        <p:spPr>
          <a:xfrm>
            <a:off x="4826000" y="2260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FastAPI request coordinator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main.py -&gt; general_server/server.py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75670A6-FFB1-A2CE-22AE-5931EA3A3F3E}"/>
              </a:ext>
            </a:extLst>
          </p:cNvPr>
          <p:cNvSpPr/>
          <p:nvPr/>
        </p:nvSpPr>
        <p:spPr>
          <a:xfrm>
            <a:off x="4648200" y="2844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F6D2C7-5F64-3AC4-B4D4-033B535CAAE5}"/>
              </a:ext>
            </a:extLst>
          </p:cNvPr>
          <p:cNvSpPr txBox="1"/>
          <p:nvPr/>
        </p:nvSpPr>
        <p:spPr>
          <a:xfrm>
            <a:off x="4826000" y="2997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API and live session layer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AB6B0D-7493-413A-EB98-9588F2586B5E}"/>
              </a:ext>
            </a:extLst>
          </p:cNvPr>
          <p:cNvSpPr txBox="1"/>
          <p:nvPr/>
        </p:nvSpPr>
        <p:spPr>
          <a:xfrm>
            <a:off x="4826000" y="3276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/api/* app endpoints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/api/live/session and /ws/live/{session_id}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F6417C10-FD4A-26D4-FC2C-D0600CE6BC1E}"/>
              </a:ext>
            </a:extLst>
          </p:cNvPr>
          <p:cNvSpPr/>
          <p:nvPr/>
        </p:nvSpPr>
        <p:spPr>
          <a:xfrm>
            <a:off x="4648200" y="3860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403F8B-D9C9-FF8E-D5F6-423864FA6608}"/>
              </a:ext>
            </a:extLst>
          </p:cNvPr>
          <p:cNvSpPr txBox="1"/>
          <p:nvPr/>
        </p:nvSpPr>
        <p:spPr>
          <a:xfrm>
            <a:off x="4826000" y="4013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Shared backend resources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FB35FD-F69F-B5FA-9525-15C00326E873}"/>
              </a:ext>
            </a:extLst>
          </p:cNvPr>
          <p:cNvSpPr txBox="1"/>
          <p:nvPr/>
        </p:nvSpPr>
        <p:spPr>
          <a:xfrm>
            <a:off x="4826000" y="4292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Pydantic schemas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Supabase profile + storage integration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E248EB5-C170-ADEA-C1AC-131A52846415}"/>
              </a:ext>
            </a:extLst>
          </p:cNvPr>
          <p:cNvSpPr/>
          <p:nvPr/>
        </p:nvSpPr>
        <p:spPr>
          <a:xfrm>
            <a:off x="8610600" y="1828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2E149F8-B75A-A111-40AE-08417DEA6346}"/>
              </a:ext>
            </a:extLst>
          </p:cNvPr>
          <p:cNvSpPr txBox="1"/>
          <p:nvPr/>
        </p:nvSpPr>
        <p:spPr>
          <a:xfrm>
            <a:off x="8788400" y="1981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Dedicated AI server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CC173A-0C8F-4519-0E12-41A2AA355B1A}"/>
              </a:ext>
            </a:extLst>
          </p:cNvPr>
          <p:cNvSpPr txBox="1"/>
          <p:nvPr/>
        </p:nvSpPr>
        <p:spPr>
          <a:xfrm>
            <a:off x="8788400" y="2260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Inference-focused service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Separated from standard app APIs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66E79B1-4901-EFD8-45DA-3FA5947B571C}"/>
              </a:ext>
            </a:extLst>
          </p:cNvPr>
          <p:cNvSpPr/>
          <p:nvPr/>
        </p:nvSpPr>
        <p:spPr>
          <a:xfrm>
            <a:off x="8610600" y="2844800"/>
            <a:ext cx="2895600" cy="838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93BDD1-0283-FCCA-686A-689124011E02}"/>
              </a:ext>
            </a:extLst>
          </p:cNvPr>
          <p:cNvSpPr txBox="1"/>
          <p:nvPr/>
        </p:nvSpPr>
        <p:spPr>
          <a:xfrm>
            <a:off x="8788400" y="2997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AI analysis scope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82A0CA0-D42A-EB61-2525-33E96E794436}"/>
              </a:ext>
            </a:extLst>
          </p:cNvPr>
          <p:cNvSpPr txBox="1"/>
          <p:nvPr/>
        </p:nvSpPr>
        <p:spPr>
          <a:xfrm>
            <a:off x="8788400" y="3276600"/>
            <a:ext cx="2540000" cy="3016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Pose analysis, GIF analysis, food analysis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Reusable for later model expansion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DDFAF349-D49C-7911-AC37-FA3732CCB9F3}"/>
              </a:ext>
            </a:extLst>
          </p:cNvPr>
          <p:cNvSpPr/>
          <p:nvPr/>
        </p:nvSpPr>
        <p:spPr>
          <a:xfrm>
            <a:off x="8610600" y="3860800"/>
            <a:ext cx="2895600" cy="11684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DE68C9-808B-B1AA-6C95-1624D642C992}"/>
              </a:ext>
            </a:extLst>
          </p:cNvPr>
          <p:cNvSpPr txBox="1"/>
          <p:nvPr/>
        </p:nvSpPr>
        <p:spPr>
          <a:xfrm>
            <a:off x="8788400" y="40132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Integration paths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19EF83-DC87-5466-51BD-3F7E3835F908}"/>
              </a:ext>
            </a:extLst>
          </p:cNvPr>
          <p:cNvSpPr txBox="1"/>
          <p:nvPr/>
        </p:nvSpPr>
        <p:spPr>
          <a:xfrm>
            <a:off x="8788400" y="4292600"/>
            <a:ext cx="2540000" cy="4524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Backend proxy via AI_HOST:8001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Optional mobile-to-AI gRPC</a:t>
            </a:r>
          </a:p>
          <a:p>
            <a:r>
              <a:rPr lang="en-US" altLang="ko-KR" sz="980">
                <a:solidFill>
                  <a:srgbClr val="687C90"/>
                </a:solidFill>
                <a:latin typeface="Segoe UI" panose="020B0502040204020203" pitchFamily="34" charset="0"/>
              </a:rPr>
              <a:t>Future high-load AI processing path</a:t>
            </a:r>
            <a:endParaRPr lang="ko-KR" altLang="en-US" sz="98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11DBC2A8-6CD1-AB61-4405-9515B7552DBA}"/>
              </a:ext>
            </a:extLst>
          </p:cNvPr>
          <p:cNvSpPr/>
          <p:nvPr/>
        </p:nvSpPr>
        <p:spPr>
          <a:xfrm>
            <a:off x="4445000" y="5588000"/>
            <a:ext cx="3302000" cy="711200"/>
          </a:xfrm>
          <a:prstGeom prst="roundRect">
            <a:avLst>
              <a:gd name="adj" fmla="val 18000"/>
            </a:avLst>
          </a:prstGeom>
          <a:solidFill>
            <a:srgbClr val="F5F7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887286A-EB94-F62E-CE0E-B350EFC4CCF5}"/>
              </a:ext>
            </a:extLst>
          </p:cNvPr>
          <p:cNvSpPr txBox="1"/>
          <p:nvPr/>
        </p:nvSpPr>
        <p:spPr>
          <a:xfrm>
            <a:off x="4724400" y="5753100"/>
            <a:ext cx="127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8324A"/>
                </a:solidFill>
                <a:latin typeface="Segoe UI" panose="020B0502040204020203" pitchFamily="34" charset="0"/>
              </a:rPr>
              <a:t>Supabase</a:t>
            </a:r>
            <a:endParaRPr lang="ko-KR" altLang="en-US" sz="130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9EBAD7-7F2D-917B-CD38-31A1D8962F83}"/>
              </a:ext>
            </a:extLst>
          </p:cNvPr>
          <p:cNvSpPr txBox="1"/>
          <p:nvPr/>
        </p:nvSpPr>
        <p:spPr>
          <a:xfrm>
            <a:off x="4724400" y="5981700"/>
            <a:ext cx="228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687C90"/>
                </a:solidFill>
                <a:latin typeface="Segoe UI" panose="020B0502040204020203" pitchFamily="34" charset="0"/>
              </a:rPr>
              <a:t>Profile DB and image storage</a:t>
            </a:r>
            <a:endParaRPr lang="ko-KR" altLang="en-US" sz="950">
              <a:solidFill>
                <a:srgbClr val="687C90"/>
              </a:solidFill>
              <a:latin typeface="Segoe UI" panose="020B0502040204020203" pitchFamily="34" charset="0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F69E2BB-84DF-EADB-E0C5-D5D272297BE1}"/>
              </a:ext>
            </a:extLst>
          </p:cNvPr>
          <p:cNvCxnSpPr/>
          <p:nvPr/>
        </p:nvCxnSpPr>
        <p:spPr>
          <a:xfrm>
            <a:off x="3352800" y="4292600"/>
            <a:ext cx="1066800" cy="0"/>
          </a:xfrm>
          <a:prstGeom prst="line">
            <a:avLst/>
          </a:prstGeom>
          <a:ln w="30480">
            <a:solidFill>
              <a:srgbClr val="2B6C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50ADED71-8624-0628-4E18-E407C1BDD748}"/>
              </a:ext>
            </a:extLst>
          </p:cNvPr>
          <p:cNvSpPr/>
          <p:nvPr/>
        </p:nvSpPr>
        <p:spPr>
          <a:xfrm>
            <a:off x="3454400" y="4076700"/>
            <a:ext cx="660400" cy="228600"/>
          </a:xfrm>
          <a:prstGeom prst="roundRect">
            <a:avLst>
              <a:gd name="adj" fmla="val 45000"/>
            </a:avLst>
          </a:prstGeom>
          <a:solidFill>
            <a:srgbClr val="E8F0FF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HTTP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4E96D09C-2F84-0A32-7103-A2C3371E1559}"/>
              </a:ext>
            </a:extLst>
          </p:cNvPr>
          <p:cNvCxnSpPr/>
          <p:nvPr/>
        </p:nvCxnSpPr>
        <p:spPr>
          <a:xfrm>
            <a:off x="3352800" y="4724400"/>
            <a:ext cx="1066800" cy="0"/>
          </a:xfrm>
          <a:prstGeom prst="line">
            <a:avLst/>
          </a:prstGeom>
          <a:ln w="30480">
            <a:solidFill>
              <a:srgbClr val="2B6C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49362C64-8118-7F2E-1D48-1DC20EBA3393}"/>
              </a:ext>
            </a:extLst>
          </p:cNvPr>
          <p:cNvCxnSpPr/>
          <p:nvPr/>
        </p:nvCxnSpPr>
        <p:spPr>
          <a:xfrm>
            <a:off x="7772400" y="4292600"/>
            <a:ext cx="609600" cy="0"/>
          </a:xfrm>
          <a:prstGeom prst="line">
            <a:avLst/>
          </a:prstGeom>
          <a:ln w="27940">
            <a:solidFill>
              <a:srgbClr val="8794A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F24FD7E3-A46A-E8FE-8B2D-59AB5ED38BA5}"/>
              </a:ext>
            </a:extLst>
          </p:cNvPr>
          <p:cNvSpPr/>
          <p:nvPr/>
        </p:nvSpPr>
        <p:spPr>
          <a:xfrm>
            <a:off x="7823200" y="4076700"/>
            <a:ext cx="787400" cy="228600"/>
          </a:xfrm>
          <a:prstGeom prst="roundRect">
            <a:avLst>
              <a:gd name="adj" fmla="val 45000"/>
            </a:avLst>
          </a:prstGeom>
          <a:solidFill>
            <a:srgbClr val="F5F7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>
                <a:solidFill>
                  <a:srgbClr val="18324A"/>
                </a:solidFill>
                <a:latin typeface="Segoe UI" panose="020B0502040204020203" pitchFamily="34" charset="0"/>
              </a:rPr>
              <a:t>AI proxy</a:t>
            </a:r>
            <a:endParaRPr lang="ko-KR" altLang="en-US" sz="950" b="1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8323901-97CC-C913-1952-43A39EE04CC1}"/>
              </a:ext>
            </a:extLst>
          </p:cNvPr>
          <p:cNvSpPr/>
          <p:nvPr/>
        </p:nvSpPr>
        <p:spPr>
          <a:xfrm>
            <a:off x="3467099" y="4765989"/>
            <a:ext cx="711200" cy="228600"/>
          </a:xfrm>
          <a:prstGeom prst="roundRect">
            <a:avLst>
              <a:gd name="adj" fmla="val 45000"/>
            </a:avLst>
          </a:prstGeom>
          <a:solidFill>
            <a:srgbClr val="F5F7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 dirty="0" err="1">
                <a:solidFill>
                  <a:srgbClr val="18324A"/>
                </a:solidFill>
                <a:latin typeface="Segoe UI" panose="020B0502040204020203" pitchFamily="34" charset="0"/>
              </a:rPr>
              <a:t>gRPC</a:t>
            </a:r>
            <a:endParaRPr lang="ko-KR" altLang="en-US" sz="950" b="1" dirty="0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18E7CE86-D7F4-ED81-DB4F-79683C1A4DFC}"/>
              </a:ext>
            </a:extLst>
          </p:cNvPr>
          <p:cNvCxnSpPr/>
          <p:nvPr/>
        </p:nvCxnSpPr>
        <p:spPr>
          <a:xfrm>
            <a:off x="6096000" y="4699000"/>
            <a:ext cx="0" cy="889000"/>
          </a:xfrm>
          <a:prstGeom prst="line">
            <a:avLst/>
          </a:prstGeom>
          <a:ln w="27940">
            <a:solidFill>
              <a:srgbClr val="2B6C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A857E76-B8B0-5EE7-4D9A-BABC2E6C54FA}"/>
              </a:ext>
            </a:extLst>
          </p:cNvPr>
          <p:cNvSpPr/>
          <p:nvPr/>
        </p:nvSpPr>
        <p:spPr>
          <a:xfrm>
            <a:off x="7696200" y="4688487"/>
            <a:ext cx="711200" cy="228600"/>
          </a:xfrm>
          <a:prstGeom prst="roundRect">
            <a:avLst>
              <a:gd name="adj" fmla="val 45000"/>
            </a:avLst>
          </a:prstGeom>
          <a:solidFill>
            <a:srgbClr val="F5F7FA"/>
          </a:solidFill>
          <a:ln w="12700">
            <a:solidFill>
              <a:srgbClr val="DCE4E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US" altLang="ko-KR" sz="950" b="1" dirty="0" err="1">
                <a:solidFill>
                  <a:srgbClr val="18324A"/>
                </a:solidFill>
                <a:latin typeface="Segoe UI" panose="020B0502040204020203" pitchFamily="34" charset="0"/>
              </a:rPr>
              <a:t>gRPC</a:t>
            </a:r>
            <a:endParaRPr lang="ko-KR" altLang="en-US" sz="950" b="1" dirty="0">
              <a:solidFill>
                <a:srgbClr val="18324A"/>
              </a:solidFill>
              <a:latin typeface="Segoe UI" panose="020B0502040204020203" pitchFamily="34" charset="0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BF9EC659-7DA2-873B-A6DD-1176C95C300C}"/>
              </a:ext>
            </a:extLst>
          </p:cNvPr>
          <p:cNvCxnSpPr/>
          <p:nvPr/>
        </p:nvCxnSpPr>
        <p:spPr>
          <a:xfrm>
            <a:off x="7543800" y="4594221"/>
            <a:ext cx="1066800" cy="0"/>
          </a:xfrm>
          <a:prstGeom prst="line">
            <a:avLst/>
          </a:prstGeom>
          <a:ln w="30480">
            <a:solidFill>
              <a:srgbClr val="2B6CB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583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432</Words>
  <Application>Microsoft Office PowerPoint</Application>
  <PresentationFormat>와이드스크린</PresentationFormat>
  <Paragraphs>105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현수 이</dc:creator>
  <cp:lastModifiedBy>현수 이</cp:lastModifiedBy>
  <cp:revision>4</cp:revision>
  <dcterms:created xsi:type="dcterms:W3CDTF">2026-04-02T02:19:54Z</dcterms:created>
  <dcterms:modified xsi:type="dcterms:W3CDTF">2026-04-02T02:24:43Z</dcterms:modified>
</cp:coreProperties>
</file>