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gif" ContentType="image/gif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 type="wide"/>
  <p:notesSz cx="6858000" cy="9144000"/>
  <p:defaultTextStyle>
    <a:defPPr>
      <a:defRPr lang="ko-KR">
        <a:latin typeface="Aptos"/>
        <a:ea typeface="Malgun Gothic"/>
        <a:cs typeface="Malgun Gothic"/>
      </a:defRPr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>
          <a:latin typeface="Aptos Display"/>
          <a:ea typeface="Malgun Gothic"/>
        </a:defRPr>
      </a:lvl1pPr>
    </p:titleStyle>
    <p:bodyStyle>
      <a:lvl1pPr>
        <a:defRPr sz="1800">
          <a:latin typeface="Aptos"/>
          <a:ea typeface="Malgun Gothic"/>
        </a:defRPr>
      </a:lvl1pPr>
    </p:bodyStyle>
    <p:otherStyle>
      <a:lvl1pPr>
        <a:defRPr sz="1800">
          <a:latin typeface="Aptos"/>
          <a:ea typeface="Malgun Gothic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test.gif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test.gif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7818120" y="-182880"/>
            <a:ext cx="4480560" cy="7223760"/>
          </a:xfrm>
          <a:prstGeom prst="rect">
            <a:avLst/>
          </a:prstGeom>
          <a:solidFill>
            <a:srgbClr val="17212B"/>
          </a:solidFill>
          <a:ln>
            <a:noFill/>
          </a:ln>
        </p:spPr>
      </p:sp>
      <p:sp>
        <p:nvSpPr>
          <p:cNvPr id="3" name="text3"/>
          <p:cNvSpPr txBox="1"/>
          <p:nvPr/>
        </p:nvSpPr>
        <p:spPr>
          <a:xfrm>
            <a:off x="658368" y="566928"/>
            <a:ext cx="4389120" cy="29260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100" b="1">
                <a:solidFill>
                  <a:srgbClr val="E5B94B"/>
                </a:solidFill>
                <a:latin typeface="Aptos"/>
                <a:ea typeface="Malgun Gothic"/>
                <a:cs typeface="Malgun Gothic"/>
              </a:rPr>
              <a:t>PROJECT(프로젝트) PRESENTATION(발표 자료)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603504" y="1225296"/>
            <a:ext cx="6949440" cy="100584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4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Dance Diet Server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658368" y="2395728"/>
            <a:ext cx="6263640" cy="8686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600" b="0">
                <a:solidFill>
                  <a:srgbClr val="D8E1E6"/>
                </a:solidFill>
                <a:latin typeface="Aptos"/>
                <a:ea typeface="Malgun Gothic"/>
                <a:cs typeface="Malgun Gothic"/>
              </a:rPr>
              <a:t>FastAPI(패스트API) 기반 app-facing API(앱 연동 인터페이스), realtime WebSocket(실시간 웹소켓), AI bridge(인공지능 브리지), Supabase(슈파베이스) data layer(데이터 계층)를 정리한 overview deck(개요 덱).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658368" y="3703320"/>
            <a:ext cx="1874519" cy="310896"/>
          </a:xfrm>
          <a:prstGeom prst="roundRect">
            <a:avLst/>
          </a:prstGeom>
          <a:solidFill>
            <a:srgbClr val="2AA7A5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0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FastAPI(패스트API)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2743200" y="3703320"/>
            <a:ext cx="1874519" cy="310896"/>
          </a:xfrm>
          <a:prstGeom prst="roundRect">
            <a:avLst/>
          </a:prstGeom>
          <a:solidFill>
            <a:srgbClr val="F26957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0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WebSocket(웹소켓)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4828032" y="3703320"/>
            <a:ext cx="2057400" cy="310896"/>
          </a:xfrm>
          <a:prstGeom prst="roundRect">
            <a:avLst/>
          </a:prstGeom>
          <a:solidFill>
            <a:srgbClr val="73B66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0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Supabase(슈파베이스)</a:t>
            </a:r>
          </a:p>
        </p:txBody>
      </p:sp>
      <p:pic>
        <p:nvPicPr>
          <p:cNvPr id="9" name="tes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914400"/>
            <a:ext cx="2971800" cy="2971800"/>
          </a:xfrm>
          <a:prstGeom prst="roundRect">
            <a:avLst/>
          </a:prstGeom>
          <a:ln w="12700">
            <a:solidFill>
              <a:srgbClr val="32404B"/>
            </a:solidFill>
          </a:ln>
        </p:spPr>
      </p:pic>
      <p:sp>
        <p:nvSpPr>
          <p:cNvPr id="10" name="text10"/>
          <p:cNvSpPr txBox="1"/>
          <p:nvPr/>
        </p:nvSpPr>
        <p:spPr>
          <a:xfrm>
            <a:off x="8321040" y="4160520"/>
            <a:ext cx="2971800" cy="77724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c"/>
            <a:r>
              <a:rPr lang="ko-KR" sz="1400" b="0">
                <a:solidFill>
                  <a:srgbClr val="E9EEF2"/>
                </a:solidFill>
                <a:latin typeface="Aptos"/>
                <a:ea typeface="Malgun Gothic"/>
                <a:cs typeface="Malgun Gothic"/>
              </a:rPr>
              <a:t>test.gif demo asset(데모 자산)으로 pose analysis(포즈 분석) 방향성을 보여줍니다.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658368" y="5870448"/>
            <a:ext cx="411480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AEB8BF"/>
                </a:solidFill>
                <a:latin typeface="Aptos"/>
                <a:ea typeface="Malgun Gothic"/>
                <a:cs typeface="Malgun Gothic"/>
              </a:rPr>
              <a:t>Generated(생성): 2026-04-19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Presentation Structure(발표 구성)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Agenda(목차)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text7"/>
          <p:cNvSpPr txBox="1"/>
          <p:nvPr/>
        </p:nvSpPr>
        <p:spPr>
          <a:xfrm>
            <a:off x="822960" y="1572768"/>
            <a:ext cx="658368" cy="457200"/>
          </a:xfrm>
          <a:prstGeom prst="roundRect">
            <a:avLst/>
          </a:prstGeom>
          <a:solidFill>
            <a:srgbClr val="2AA7A5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6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1682496" y="1572768"/>
            <a:ext cx="3154680" cy="45720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7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Project Context(프로젝트 맥락)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4983480" y="1572768"/>
            <a:ext cx="58064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goal(목표), user journey(사용자 여정), repository map(저장소 지도)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822960" y="2450591"/>
            <a:ext cx="658368" cy="457200"/>
          </a:xfrm>
          <a:prstGeom prst="roundRect">
            <a:avLst/>
          </a:prstGeom>
          <a:solidFill>
            <a:srgbClr val="2AA7A5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6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682496" y="2450591"/>
            <a:ext cx="3154680" cy="45720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7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Architecture(아키텍처)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4983480" y="2450591"/>
            <a:ext cx="58064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data definition diagram(데이터 정의 구성도), runtime config(실행 설정), data flow(데이터 흐름)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822960" y="3328415"/>
            <a:ext cx="658368" cy="457200"/>
          </a:xfrm>
          <a:prstGeom prst="roundRect">
            <a:avLst/>
          </a:prstGeom>
          <a:solidFill>
            <a:srgbClr val="2AA7A5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6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1682496" y="3328415"/>
            <a:ext cx="3154680" cy="45720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7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API &amp; Protocol(API와 프로토콜)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4983480" y="3328415"/>
            <a:ext cx="58064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REST endpoint(REST 엔드포인트), WebSocket protocol(웹소켓 프로토콜), AI bridge(인공지능 브리지)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822960" y="4206240"/>
            <a:ext cx="658368" cy="457200"/>
          </a:xfrm>
          <a:prstGeom prst="roundRect">
            <a:avLst/>
          </a:prstGeom>
          <a:solidFill>
            <a:srgbClr val="2AA7A5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6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04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1682496" y="4206240"/>
            <a:ext cx="3154680" cy="45720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7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Quality &amp; Roadmap(품질과 로드맵)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4983480" y="4206240"/>
            <a:ext cx="58064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risk(리스크), test plan(테스트 계획), next sprint(다음 스프린트)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822960" y="5394960"/>
            <a:ext cx="9966960" cy="347472"/>
          </a:xfrm>
          <a:prstGeom prst="roundRect">
            <a:avLst/>
          </a:prstGeom>
          <a:solidFill>
            <a:srgbClr val="EEF3F4"/>
          </a:solidFill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Design note(디자인 메모): dense content(밀도 있는 내용)는 여러 slide(슬라이드)로 나누어 text overflow(텍스트 넘침)를 줄였습니다.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02/29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Executive Summary(요약)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One-page Summary(한 장 요약)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shape7"/>
          <p:cNvSpPr/>
          <p:nvPr/>
        </p:nvSpPr>
        <p:spPr>
          <a:xfrm>
            <a:off x="594360" y="160020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8" name="shape8"/>
          <p:cNvSpPr/>
          <p:nvPr/>
        </p:nvSpPr>
        <p:spPr>
          <a:xfrm>
            <a:off x="594360" y="1600200"/>
            <a:ext cx="73152" cy="14173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9" name="text9"/>
          <p:cNvSpPr txBox="1"/>
          <p:nvPr/>
        </p:nvSpPr>
        <p:spPr>
          <a:xfrm>
            <a:off x="740664" y="1728216"/>
            <a:ext cx="231343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Goal(목표)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740664" y="2103120"/>
            <a:ext cx="2313432" cy="85039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dance workout(댄스 운동)과 food intake(식단 섭취)를 mobile client(모바일 클라이언트)에서 기록합니다.</a:t>
            </a:r>
          </a:p>
        </p:txBody>
      </p:sp>
      <p:sp>
        <p:nvSpPr>
          <p:cNvPr id="11" name="shape11"/>
          <p:cNvSpPr/>
          <p:nvPr/>
        </p:nvSpPr>
        <p:spPr>
          <a:xfrm>
            <a:off x="3474720" y="160020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2" name="shape12"/>
          <p:cNvSpPr/>
          <p:nvPr/>
        </p:nvSpPr>
        <p:spPr>
          <a:xfrm>
            <a:off x="3474720" y="1600200"/>
            <a:ext cx="73152" cy="14173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13" name="text13"/>
          <p:cNvSpPr txBox="1"/>
          <p:nvPr/>
        </p:nvSpPr>
        <p:spPr>
          <a:xfrm>
            <a:off x="3621024" y="1728216"/>
            <a:ext cx="231343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Core(핵심)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3621024" y="2103120"/>
            <a:ext cx="2313432" cy="85039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REST API(REST API) + WebSocket(웹소켓) + AI bridge(인공지능 브리지)로 request(요청)를 분리합니다.</a:t>
            </a:r>
          </a:p>
        </p:txBody>
      </p:sp>
      <p:sp>
        <p:nvSpPr>
          <p:cNvPr id="15" name="shape15"/>
          <p:cNvSpPr/>
          <p:nvPr/>
        </p:nvSpPr>
        <p:spPr>
          <a:xfrm>
            <a:off x="6355080" y="1600200"/>
            <a:ext cx="26060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6" name="shape16"/>
          <p:cNvSpPr/>
          <p:nvPr/>
        </p:nvSpPr>
        <p:spPr>
          <a:xfrm>
            <a:off x="6355080" y="1600200"/>
            <a:ext cx="73152" cy="1417320"/>
          </a:xfrm>
          <a:prstGeom prst="rect">
            <a:avLst/>
          </a:prstGeom>
          <a:solidFill>
            <a:srgbClr val="73B66B"/>
          </a:solidFill>
          <a:ln>
            <a:noFill/>
          </a:ln>
        </p:spPr>
      </p:sp>
      <p:sp>
        <p:nvSpPr>
          <p:cNvPr id="17" name="text17"/>
          <p:cNvSpPr txBox="1"/>
          <p:nvPr/>
        </p:nvSpPr>
        <p:spPr>
          <a:xfrm>
            <a:off x="6501384" y="1728216"/>
            <a:ext cx="231343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Data(데이터)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6501384" y="2103120"/>
            <a:ext cx="2313432" cy="85039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Supabase(슈파베이스) table(테이블)과 bucket(버킷)으로 profile(프로필), food log(식단 기록), image(이미지)를 관리합니다.</a:t>
            </a:r>
          </a:p>
        </p:txBody>
      </p:sp>
      <p:sp>
        <p:nvSpPr>
          <p:cNvPr id="19" name="shape19"/>
          <p:cNvSpPr/>
          <p:nvPr/>
        </p:nvSpPr>
        <p:spPr>
          <a:xfrm>
            <a:off x="9235440" y="1600200"/>
            <a:ext cx="2331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20" name="shape20"/>
          <p:cNvSpPr/>
          <p:nvPr/>
        </p:nvSpPr>
        <p:spPr>
          <a:xfrm>
            <a:off x="9235440" y="1600200"/>
            <a:ext cx="73152" cy="14173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21" name="text21"/>
          <p:cNvSpPr txBox="1"/>
          <p:nvPr/>
        </p:nvSpPr>
        <p:spPr>
          <a:xfrm>
            <a:off x="9381744" y="1728216"/>
            <a:ext cx="203911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Status(상태)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9381744" y="2103120"/>
            <a:ext cx="2039112" cy="85039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general server(일반 서버)는 구현되어 있고 AI server(인공지능 서버)는 bridge(브리지) 대상으로 보입니다.</a:t>
            </a:r>
          </a:p>
        </p:txBody>
      </p:sp>
      <p:sp>
        <p:nvSpPr>
          <p:cNvPr id="23" name="bullets23"/>
          <p:cNvSpPr txBox="1"/>
          <p:nvPr/>
        </p:nvSpPr>
        <p:spPr>
          <a:xfrm>
            <a:off x="658368" y="3657600"/>
            <a:ext cx="107899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t" lIns="137160" rIns="91440" tIns="91440" bIns="91440">
            <a:normAutofit fontScale="80000" lnSpcReduction="25000"/>
          </a:bodyPr>
          <a:lstStyle/>
          <a:p>
            <a:pPr marL="228600" indent="-171450">
              <a:buChar char="•"/>
            </a:pPr>
            <a:r>
              <a:rPr lang="ko-KR" sz="15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current codebase(현재 코드베이스)는 app tab(앱 탭) payload(페이로드), profile update(프로필 수정), food upload(식단 업로드), live session(실시간 세션)을 포괄합니다.</a:t>
            </a:r>
          </a:p>
          <a:p>
            <a:pPr marL="228600" indent="-171450">
              <a:buChar char="•"/>
            </a:pPr>
            <a:r>
              <a:rPr lang="ko-KR" sz="15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realtime frame(실시간 프레임)은 client(클라이언트) -&gt; general server(일반 서버) -&gt; AI server(인공지능 서버) -&gt; client(클라이언트) 순서로 흐릅니다.</a:t>
            </a:r>
          </a:p>
          <a:p>
            <a:pPr marL="228600" indent="-171450">
              <a:buChar char="•"/>
            </a:pPr>
            <a:r>
              <a:rPr lang="ko-KR" sz="15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next milestone(다음 마일스톤)은 AI server(인공지능 서버) 위치 정리, protocol(프로토콜) 통일, deployment readiness(배포 준비도) 강화입니다.</a:t>
            </a:r>
          </a:p>
        </p:txBody>
      </p:sp>
      <p:sp>
        <p:nvSpPr>
          <p:cNvPr id="24" name="text24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25" name="text25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03/29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Why It Exists(존재 이유)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Product Goal(제품 목표)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text7"/>
          <p:cNvSpPr txBox="1"/>
          <p:nvPr/>
        </p:nvSpPr>
        <p:spPr>
          <a:xfrm>
            <a:off x="658368" y="1554480"/>
            <a:ext cx="5074920" cy="74980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4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사용자가 춤을 추고, 먹은 음식을 찍고, 목표 calorie(칼로리)를 매일 확인하는 loop(루프)를 짧게 만듭니다.</a:t>
            </a:r>
          </a:p>
        </p:txBody>
      </p:sp>
      <p:sp>
        <p:nvSpPr>
          <p:cNvPr id="8" name="shape8"/>
          <p:cNvSpPr/>
          <p:nvPr/>
        </p:nvSpPr>
        <p:spPr>
          <a:xfrm>
            <a:off x="676656" y="274320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9" name="shape9"/>
          <p:cNvSpPr/>
          <p:nvPr/>
        </p:nvSpPr>
        <p:spPr>
          <a:xfrm>
            <a:off x="676656" y="2743200"/>
            <a:ext cx="73152" cy="14173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10" name="text10"/>
          <p:cNvSpPr txBox="1"/>
          <p:nvPr/>
        </p:nvSpPr>
        <p:spPr>
          <a:xfrm>
            <a:off x="822960" y="2871216"/>
            <a:ext cx="313639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Dance tracking(댄스 추적)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822960" y="3246120"/>
            <a:ext cx="3136392" cy="85039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camera frame(카메라 프레임)을 live stream(실시간 스트림)으로 보내 movement score(움직임 점수)와 burned calorie(소모 칼로리)를 받습니다.</a:t>
            </a:r>
          </a:p>
        </p:txBody>
      </p:sp>
      <p:sp>
        <p:nvSpPr>
          <p:cNvPr id="12" name="shape12"/>
          <p:cNvSpPr/>
          <p:nvPr/>
        </p:nvSpPr>
        <p:spPr>
          <a:xfrm>
            <a:off x="4370832" y="274320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3" name="shape13"/>
          <p:cNvSpPr/>
          <p:nvPr/>
        </p:nvSpPr>
        <p:spPr>
          <a:xfrm>
            <a:off x="4370832" y="2743200"/>
            <a:ext cx="73152" cy="1417320"/>
          </a:xfrm>
          <a:prstGeom prst="rect">
            <a:avLst/>
          </a:prstGeom>
          <a:solidFill>
            <a:srgbClr val="73B66B"/>
          </a:solidFill>
          <a:ln>
            <a:noFill/>
          </a:ln>
        </p:spPr>
      </p:sp>
      <p:sp>
        <p:nvSpPr>
          <p:cNvPr id="14" name="text14"/>
          <p:cNvSpPr txBox="1"/>
          <p:nvPr/>
        </p:nvSpPr>
        <p:spPr>
          <a:xfrm>
            <a:off x="4517136" y="2871216"/>
            <a:ext cx="313639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Food logging(식단 기록)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4517136" y="3246120"/>
            <a:ext cx="3136392" cy="85039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meal image(식사 이미지)를 upload(업로드)하고 analysis result(분석 결과)를 DailyFoodLog table(테이블)에 저장합니다.</a:t>
            </a:r>
          </a:p>
        </p:txBody>
      </p:sp>
      <p:sp>
        <p:nvSpPr>
          <p:cNvPr id="16" name="shape16"/>
          <p:cNvSpPr/>
          <p:nvPr/>
        </p:nvSpPr>
        <p:spPr>
          <a:xfrm>
            <a:off x="8065008" y="274320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7" name="shape17"/>
          <p:cNvSpPr/>
          <p:nvPr/>
        </p:nvSpPr>
        <p:spPr>
          <a:xfrm>
            <a:off x="8065008" y="2743200"/>
            <a:ext cx="73152" cy="14173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18" name="text18"/>
          <p:cNvSpPr txBox="1"/>
          <p:nvPr/>
        </p:nvSpPr>
        <p:spPr>
          <a:xfrm>
            <a:off x="8211312" y="2871216"/>
            <a:ext cx="313639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Mobile home(모바일 홈)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8211312" y="3246120"/>
            <a:ext cx="3136392" cy="85039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home/profile/record/class tab(탭)에 필요한 payload(페이로드)를 REST endpoint(엔드포인트)로 제공합니다.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6492240" y="1572768"/>
            <a:ext cx="4572000" cy="594360"/>
          </a:xfrm>
          <a:prstGeom prst="roundRect">
            <a:avLst/>
          </a:prstGeom>
          <a:solidFill>
            <a:srgbClr val="F7EBC3"/>
          </a:solidFill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Main promise(핵심 약속): workout data(운동 데이터)와 food data(식단 데이터)를 한 화면에서 이어 봅니다.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04/29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App-facing Flow(앱 연동 흐름)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User Journey(사용자 여정)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text7"/>
          <p:cNvSpPr txBox="1"/>
          <p:nvPr/>
        </p:nvSpPr>
        <p:spPr>
          <a:xfrm>
            <a:off x="594360" y="1600200"/>
            <a:ext cx="2011680" cy="512064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Onboarding(가입)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594360" y="2267712"/>
            <a:ext cx="2011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signup request(가입 요청)
profile record(프로필 기록)</a:t>
            </a:r>
          </a:p>
        </p:txBody>
      </p:sp>
      <p:sp>
        <p:nvSpPr>
          <p:cNvPr id="9" name="shape9"/>
          <p:cNvSpPr/>
          <p:nvPr/>
        </p:nvSpPr>
        <p:spPr>
          <a:xfrm>
            <a:off x="2651760" y="2697480"/>
            <a:ext cx="310896" cy="137160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0" name="text10"/>
          <p:cNvSpPr txBox="1"/>
          <p:nvPr/>
        </p:nvSpPr>
        <p:spPr>
          <a:xfrm>
            <a:off x="2834640" y="1600200"/>
            <a:ext cx="2011680" cy="512064"/>
          </a:xfrm>
          <a:prstGeom prst="roundRect">
            <a:avLst/>
          </a:prstGeom>
          <a:solidFill>
            <a:srgbClr val="2AA7A5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Daily Home(일일 홈)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2834640" y="2267712"/>
            <a:ext cx="2011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target calorie(목표 칼로리)
intake summary(섭취 요약)</a:t>
            </a:r>
          </a:p>
        </p:txBody>
      </p:sp>
      <p:sp>
        <p:nvSpPr>
          <p:cNvPr id="12" name="shape12"/>
          <p:cNvSpPr/>
          <p:nvPr/>
        </p:nvSpPr>
        <p:spPr>
          <a:xfrm>
            <a:off x="4892040" y="2697480"/>
            <a:ext cx="310896" cy="137160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3" name="text13"/>
          <p:cNvSpPr txBox="1"/>
          <p:nvPr/>
        </p:nvSpPr>
        <p:spPr>
          <a:xfrm>
            <a:off x="5074920" y="1600200"/>
            <a:ext cx="2011680" cy="512064"/>
          </a:xfrm>
          <a:prstGeom prst="roundRect">
            <a:avLst/>
          </a:prstGeom>
          <a:solidFill>
            <a:srgbClr val="F26957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Dance Session(댄스 세션)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5074920" y="2267712"/>
            <a:ext cx="2011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start session(세션 시작)
frame streaming(프레임 스트리밍)
result feedback(결과 피드백)</a:t>
            </a:r>
          </a:p>
        </p:txBody>
      </p:sp>
      <p:sp>
        <p:nvSpPr>
          <p:cNvPr id="15" name="shape15"/>
          <p:cNvSpPr/>
          <p:nvPr/>
        </p:nvSpPr>
        <p:spPr>
          <a:xfrm>
            <a:off x="7132320" y="2697480"/>
            <a:ext cx="310896" cy="137160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6" name="text16"/>
          <p:cNvSpPr txBox="1"/>
          <p:nvPr/>
        </p:nvSpPr>
        <p:spPr>
          <a:xfrm>
            <a:off x="7315200" y="1600200"/>
            <a:ext cx="2011680" cy="512064"/>
          </a:xfrm>
          <a:prstGeom prst="roundRect">
            <a:avLst/>
          </a:prstGeom>
          <a:solidFill>
            <a:srgbClr val="73B66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Food Intake(식단 섭취)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7315200" y="2267712"/>
            <a:ext cx="2011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image upload(이미지 업로드)
AI analysis(인공지능 분석)
food log(식단 기록)</a:t>
            </a:r>
          </a:p>
        </p:txBody>
      </p:sp>
      <p:sp>
        <p:nvSpPr>
          <p:cNvPr id="18" name="shape18"/>
          <p:cNvSpPr/>
          <p:nvPr/>
        </p:nvSpPr>
        <p:spPr>
          <a:xfrm>
            <a:off x="9372600" y="2697480"/>
            <a:ext cx="310896" cy="137160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9" name="text19"/>
          <p:cNvSpPr txBox="1"/>
          <p:nvPr/>
        </p:nvSpPr>
        <p:spPr>
          <a:xfrm>
            <a:off x="9555480" y="1600200"/>
            <a:ext cx="2011680" cy="512064"/>
          </a:xfrm>
          <a:prstGeom prst="roundRect">
            <a:avLst/>
          </a:prstGeom>
          <a:solidFill>
            <a:srgbClr val="E5B94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Record Review(기록 확인)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9555480" y="2267712"/>
            <a:ext cx="2011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weekly/monthly view(주간/월간 보기)
progress check(진행 확인)</a:t>
            </a:r>
          </a:p>
        </p:txBody>
      </p:sp>
      <p:sp>
        <p:nvSpPr>
          <p:cNvPr id="21" name="bullets21"/>
          <p:cNvSpPr txBox="1"/>
          <p:nvPr/>
        </p:nvSpPr>
        <p:spPr>
          <a:xfrm>
            <a:off x="749808" y="4251960"/>
            <a:ext cx="1037844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t" lIns="137160" rIns="91440" tIns="91440" bIns="91440">
            <a:normAutofit fontScale="80000" lnSpcReduction="25000"/>
          </a:bodyPr>
          <a:lstStyle/>
          <a:p>
            <a:pPr marL="228600" indent="-171450">
              <a:buChar char="•"/>
            </a:pPr>
            <a:r>
              <a:rPr lang="ko-KR" sz="13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server(서버)는 screen tab(화면 탭)별 payload(페이로드)를 제공하고, realtime feedback(실시간 피드백)은 WebSocket(웹소켓)으로 분리합니다.</a:t>
            </a:r>
          </a:p>
          <a:p>
            <a:pPr marL="228600" indent="-171450">
              <a:buChar char="•"/>
            </a:pPr>
            <a:r>
              <a:rPr lang="ko-KR" sz="13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user value(사용자 가치)는 workout action(운동 행동)과 meal record(식사 기록)가 같은 calorie narrative(칼로리 맥락)로 이어지는 점입니다.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05/29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Dependencies(의존성) &amp; Roles(역할)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Tech Stack(기술 스택)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shape7"/>
          <p:cNvSpPr/>
          <p:nvPr/>
        </p:nvSpPr>
        <p:spPr>
          <a:xfrm>
            <a:off x="713232" y="1572768"/>
            <a:ext cx="324612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8" name="shape8"/>
          <p:cNvSpPr/>
          <p:nvPr/>
        </p:nvSpPr>
        <p:spPr>
          <a:xfrm>
            <a:off x="713232" y="1572768"/>
            <a:ext cx="73152" cy="1207008"/>
          </a:xfrm>
          <a:prstGeom prst="rect">
            <a:avLst/>
          </a:prstGeom>
          <a:solidFill>
            <a:srgbClr val="3B7DDD"/>
          </a:solidFill>
          <a:ln>
            <a:noFill/>
          </a:ln>
        </p:spPr>
      </p:sp>
      <p:sp>
        <p:nvSpPr>
          <p:cNvPr id="9" name="text9"/>
          <p:cNvSpPr txBox="1"/>
          <p:nvPr/>
        </p:nvSpPr>
        <p:spPr>
          <a:xfrm>
            <a:off x="859536" y="1700784"/>
            <a:ext cx="295351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API runtime(API 실행 환경)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859536" y="2075688"/>
            <a:ext cx="2953512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FastAPI(패스트API), uvicorn(유비콘), Pydantic(파이단틱), python-multipart(파이썬 멀티파트).</a:t>
            </a:r>
          </a:p>
        </p:txBody>
      </p:sp>
      <p:sp>
        <p:nvSpPr>
          <p:cNvPr id="11" name="shape11"/>
          <p:cNvSpPr/>
          <p:nvPr/>
        </p:nvSpPr>
        <p:spPr>
          <a:xfrm>
            <a:off x="4224528" y="1572768"/>
            <a:ext cx="324612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2" name="shape12"/>
          <p:cNvSpPr/>
          <p:nvPr/>
        </p:nvSpPr>
        <p:spPr>
          <a:xfrm>
            <a:off x="4224528" y="1572768"/>
            <a:ext cx="73152" cy="1207008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13" name="text13"/>
          <p:cNvSpPr txBox="1"/>
          <p:nvPr/>
        </p:nvSpPr>
        <p:spPr>
          <a:xfrm>
            <a:off x="4370832" y="1700784"/>
            <a:ext cx="295351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Realtime(실시간)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4370832" y="2075688"/>
            <a:ext cx="2953512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websockets(웹소켓 라이브러리), Starlette WebSocket(스타렛 웹소켓), request_lock(요청 잠금).</a:t>
            </a:r>
          </a:p>
        </p:txBody>
      </p:sp>
      <p:sp>
        <p:nvSpPr>
          <p:cNvPr id="15" name="shape15"/>
          <p:cNvSpPr/>
          <p:nvPr/>
        </p:nvSpPr>
        <p:spPr>
          <a:xfrm>
            <a:off x="7735824" y="1572768"/>
            <a:ext cx="324612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6" name="shape16"/>
          <p:cNvSpPr/>
          <p:nvPr/>
        </p:nvSpPr>
        <p:spPr>
          <a:xfrm>
            <a:off x="7735824" y="1572768"/>
            <a:ext cx="73152" cy="1207008"/>
          </a:xfrm>
          <a:prstGeom prst="rect">
            <a:avLst/>
          </a:prstGeom>
          <a:solidFill>
            <a:srgbClr val="73B66B"/>
          </a:solidFill>
          <a:ln>
            <a:noFill/>
          </a:ln>
        </p:spPr>
      </p:sp>
      <p:sp>
        <p:nvSpPr>
          <p:cNvPr id="17" name="text17"/>
          <p:cNvSpPr txBox="1"/>
          <p:nvPr/>
        </p:nvSpPr>
        <p:spPr>
          <a:xfrm>
            <a:off x="7882128" y="1700784"/>
            <a:ext cx="295351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Data layer(데이터 계층)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7882128" y="2075688"/>
            <a:ext cx="2953512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Supabase(슈파베이스), storage bucket(스토리지 버킷), environment variable(환경 변수).</a:t>
            </a:r>
          </a:p>
        </p:txBody>
      </p:sp>
      <p:sp>
        <p:nvSpPr>
          <p:cNvPr id="19" name="shape19"/>
          <p:cNvSpPr/>
          <p:nvPr/>
        </p:nvSpPr>
        <p:spPr>
          <a:xfrm>
            <a:off x="713232" y="3246120"/>
            <a:ext cx="324612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20" name="shape20"/>
          <p:cNvSpPr/>
          <p:nvPr/>
        </p:nvSpPr>
        <p:spPr>
          <a:xfrm>
            <a:off x="713232" y="3246120"/>
            <a:ext cx="73152" cy="1207008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21" name="text21"/>
          <p:cNvSpPr txBox="1"/>
          <p:nvPr/>
        </p:nvSpPr>
        <p:spPr>
          <a:xfrm>
            <a:off x="859536" y="3374136"/>
            <a:ext cx="295351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AI prototype(인공지능 프로토타입)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859536" y="3749039"/>
            <a:ext cx="2953512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MediaPipe(미디어파이프), OpenCV(오픈CV), NumPy(넘파이), pose landmark(포즈 랜드마크).</a:t>
            </a:r>
          </a:p>
        </p:txBody>
      </p:sp>
      <p:sp>
        <p:nvSpPr>
          <p:cNvPr id="23" name="shape23"/>
          <p:cNvSpPr/>
          <p:nvPr/>
        </p:nvSpPr>
        <p:spPr>
          <a:xfrm>
            <a:off x="4224528" y="3246120"/>
            <a:ext cx="324612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24" name="shape24"/>
          <p:cNvSpPr/>
          <p:nvPr/>
        </p:nvSpPr>
        <p:spPr>
          <a:xfrm>
            <a:off x="4224528" y="3246120"/>
            <a:ext cx="73152" cy="1207008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25" name="text25"/>
          <p:cNvSpPr txBox="1"/>
          <p:nvPr/>
        </p:nvSpPr>
        <p:spPr>
          <a:xfrm>
            <a:off x="4370832" y="3374136"/>
            <a:ext cx="295351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Local tooling(로컬 도구)</a:t>
            </a:r>
          </a:p>
        </p:txBody>
      </p:sp>
      <p:sp>
        <p:nvSpPr>
          <p:cNvPr id="26" name="text26"/>
          <p:cNvSpPr txBox="1"/>
          <p:nvPr/>
        </p:nvSpPr>
        <p:spPr>
          <a:xfrm>
            <a:off x="4370832" y="3749039"/>
            <a:ext cx="2953512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uv(유브이), pyproject.toml(파이프로젝트 설정), README(리드미), demo script(데모 스크립트).</a:t>
            </a:r>
          </a:p>
        </p:txBody>
      </p:sp>
      <p:sp>
        <p:nvSpPr>
          <p:cNvPr id="27" name="shape27"/>
          <p:cNvSpPr/>
          <p:nvPr/>
        </p:nvSpPr>
        <p:spPr>
          <a:xfrm>
            <a:off x="7735824" y="3246120"/>
            <a:ext cx="324612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28" name="shape28"/>
          <p:cNvSpPr/>
          <p:nvPr/>
        </p:nvSpPr>
        <p:spPr>
          <a:xfrm>
            <a:off x="7735824" y="3246120"/>
            <a:ext cx="73152" cy="1207008"/>
          </a:xfrm>
          <a:prstGeom prst="rect">
            <a:avLst/>
          </a:prstGeom>
          <a:solidFill>
            <a:srgbClr val="3B7DDD"/>
          </a:solidFill>
          <a:ln>
            <a:noFill/>
          </a:ln>
        </p:spPr>
      </p:sp>
      <p:sp>
        <p:nvSpPr>
          <p:cNvPr id="29" name="text29"/>
          <p:cNvSpPr txBox="1"/>
          <p:nvPr/>
        </p:nvSpPr>
        <p:spPr>
          <a:xfrm>
            <a:off x="7882128" y="3374136"/>
            <a:ext cx="295351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Client contract(클라이언트 계약)</a:t>
            </a:r>
          </a:p>
        </p:txBody>
      </p:sp>
      <p:sp>
        <p:nvSpPr>
          <p:cNvPr id="30" name="text30"/>
          <p:cNvSpPr txBox="1"/>
          <p:nvPr/>
        </p:nvSpPr>
        <p:spPr>
          <a:xfrm>
            <a:off x="7882128" y="3749039"/>
            <a:ext cx="2953512" cy="64008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HTTP request(HTTP 요청), JSON response(JSON 응답), WebSocket message(웹소켓 메시지).</a:t>
            </a:r>
          </a:p>
        </p:txBody>
      </p:sp>
      <p:sp>
        <p:nvSpPr>
          <p:cNvPr id="31" name="text31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32" name="text32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06/29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Current Files(현재 파일)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Repository Map(저장소 지도)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shape7"/>
          <p:cNvSpPr/>
          <p:nvPr/>
        </p:nvSpPr>
        <p:spPr>
          <a:xfrm>
            <a:off x="640080" y="1554480"/>
            <a:ext cx="306324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8" name="shape8"/>
          <p:cNvSpPr/>
          <p:nvPr/>
        </p:nvSpPr>
        <p:spPr>
          <a:xfrm>
            <a:off x="640080" y="1554480"/>
            <a:ext cx="73152" cy="1225296"/>
          </a:xfrm>
          <a:prstGeom prst="rect">
            <a:avLst/>
          </a:prstGeom>
          <a:solidFill>
            <a:srgbClr val="3B7DDD"/>
          </a:solidFill>
          <a:ln>
            <a:noFill/>
          </a:ln>
        </p:spPr>
      </p:sp>
      <p:sp>
        <p:nvSpPr>
          <p:cNvPr id="9" name="text9"/>
          <p:cNvSpPr txBox="1"/>
          <p:nvPr/>
        </p:nvSpPr>
        <p:spPr>
          <a:xfrm>
            <a:off x="786384" y="1682495"/>
            <a:ext cx="277063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entrypoint(진입점)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786384" y="2057400"/>
            <a:ext cx="2770632" cy="6583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main.py
uvicorn(유비콘)이 general server(일반 서버)를 실행합니다.</a:t>
            </a:r>
          </a:p>
        </p:txBody>
      </p:sp>
      <p:sp>
        <p:nvSpPr>
          <p:cNvPr id="11" name="shape11"/>
          <p:cNvSpPr/>
          <p:nvPr/>
        </p:nvSpPr>
        <p:spPr>
          <a:xfrm>
            <a:off x="3977639" y="1554480"/>
            <a:ext cx="342900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2" name="shape12"/>
          <p:cNvSpPr/>
          <p:nvPr/>
        </p:nvSpPr>
        <p:spPr>
          <a:xfrm>
            <a:off x="3977639" y="1554480"/>
            <a:ext cx="73152" cy="1225296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13" name="text13"/>
          <p:cNvSpPr txBox="1"/>
          <p:nvPr/>
        </p:nvSpPr>
        <p:spPr>
          <a:xfrm>
            <a:off x="4123944" y="1682495"/>
            <a:ext cx="313639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general_server package(패키지)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4123944" y="2057400"/>
            <a:ext cx="3136392" cy="6583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server.py, internal_services.py, session_manager.py
REST API(REST API)와 session state(세션 상태)를 담당합니다.</a:t>
            </a:r>
          </a:p>
        </p:txBody>
      </p:sp>
      <p:sp>
        <p:nvSpPr>
          <p:cNvPr id="15" name="shape15"/>
          <p:cNvSpPr/>
          <p:nvPr/>
        </p:nvSpPr>
        <p:spPr>
          <a:xfrm>
            <a:off x="7680960" y="1554480"/>
            <a:ext cx="32461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6" name="shape16"/>
          <p:cNvSpPr/>
          <p:nvPr/>
        </p:nvSpPr>
        <p:spPr>
          <a:xfrm>
            <a:off x="7680960" y="1554480"/>
            <a:ext cx="73152" cy="1225296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17" name="text17"/>
          <p:cNvSpPr txBox="1"/>
          <p:nvPr/>
        </p:nvSpPr>
        <p:spPr>
          <a:xfrm>
            <a:off x="7827264" y="1682495"/>
            <a:ext cx="295351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socket package(패키지)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7827264" y="2057400"/>
            <a:ext cx="2953512" cy="6583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live_session_route.py, ai_outbound.py
WebSocket(웹소켓) client(클라이언트)와 AI bridge(인공지능 브리지)를 연결합니다.</a:t>
            </a:r>
          </a:p>
        </p:txBody>
      </p:sp>
      <p:sp>
        <p:nvSpPr>
          <p:cNvPr id="19" name="shape19"/>
          <p:cNvSpPr/>
          <p:nvPr/>
        </p:nvSpPr>
        <p:spPr>
          <a:xfrm>
            <a:off x="640080" y="3218688"/>
            <a:ext cx="306324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20" name="shape20"/>
          <p:cNvSpPr/>
          <p:nvPr/>
        </p:nvSpPr>
        <p:spPr>
          <a:xfrm>
            <a:off x="640080" y="3218688"/>
            <a:ext cx="73152" cy="1225296"/>
          </a:xfrm>
          <a:prstGeom prst="rect">
            <a:avLst/>
          </a:prstGeom>
          <a:solidFill>
            <a:srgbClr val="73B66B"/>
          </a:solidFill>
          <a:ln>
            <a:noFill/>
          </a:ln>
        </p:spPr>
      </p:sp>
      <p:sp>
        <p:nvSpPr>
          <p:cNvPr id="21" name="text21"/>
          <p:cNvSpPr txBox="1"/>
          <p:nvPr/>
        </p:nvSpPr>
        <p:spPr>
          <a:xfrm>
            <a:off x="786384" y="3346704"/>
            <a:ext cx="277063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shared package(패키지)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786384" y="3721608"/>
            <a:ext cx="2770632" cy="6583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schemas.py, db_connect.py, Bucket.py
Pydantic(파이단틱) schema(스키마), Supabase(슈파베이스) 연결, bucket name(버킷 이름).</a:t>
            </a:r>
          </a:p>
        </p:txBody>
      </p:sp>
      <p:sp>
        <p:nvSpPr>
          <p:cNvPr id="23" name="shape23"/>
          <p:cNvSpPr/>
          <p:nvPr/>
        </p:nvSpPr>
        <p:spPr>
          <a:xfrm>
            <a:off x="3977639" y="3218688"/>
            <a:ext cx="342900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24" name="shape24"/>
          <p:cNvSpPr/>
          <p:nvPr/>
        </p:nvSpPr>
        <p:spPr>
          <a:xfrm>
            <a:off x="3977639" y="3218688"/>
            <a:ext cx="73152" cy="1225296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25" name="text25"/>
          <p:cNvSpPr txBox="1"/>
          <p:nvPr/>
        </p:nvSpPr>
        <p:spPr>
          <a:xfrm>
            <a:off x="4123944" y="3346704"/>
            <a:ext cx="313639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demo scripts(데모 스크립트)</a:t>
            </a:r>
          </a:p>
        </p:txBody>
      </p:sp>
      <p:sp>
        <p:nvSpPr>
          <p:cNvPr id="26" name="text26"/>
          <p:cNvSpPr txBox="1"/>
          <p:nvPr/>
        </p:nvSpPr>
        <p:spPr>
          <a:xfrm>
            <a:off x="4123944" y="3721608"/>
            <a:ext cx="3136392" cy="6583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live_session_client_test.py, kcal_cal.py, rocognize_gif.py
OpenCV(오픈CV), MediaPipe(미디어파이프) 기반 prototype(프로토타입).</a:t>
            </a:r>
          </a:p>
        </p:txBody>
      </p:sp>
      <p:sp>
        <p:nvSpPr>
          <p:cNvPr id="27" name="shape27"/>
          <p:cNvSpPr/>
          <p:nvPr/>
        </p:nvSpPr>
        <p:spPr>
          <a:xfrm>
            <a:off x="7680960" y="3218688"/>
            <a:ext cx="32461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28" name="shape28"/>
          <p:cNvSpPr/>
          <p:nvPr/>
        </p:nvSpPr>
        <p:spPr>
          <a:xfrm>
            <a:off x="7680960" y="3218688"/>
            <a:ext cx="73152" cy="1225296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29" name="text29"/>
          <p:cNvSpPr txBox="1"/>
          <p:nvPr/>
        </p:nvSpPr>
        <p:spPr>
          <a:xfrm>
            <a:off x="7827264" y="3346704"/>
            <a:ext cx="295351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docs mismatch(문서 차이)</a:t>
            </a:r>
          </a:p>
        </p:txBody>
      </p:sp>
      <p:sp>
        <p:nvSpPr>
          <p:cNvPr id="30" name="text30"/>
          <p:cNvSpPr txBox="1"/>
          <p:nvPr/>
        </p:nvSpPr>
        <p:spPr>
          <a:xfrm>
            <a:off x="7827264" y="3721608"/>
            <a:ext cx="2953512" cy="6583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README(리드미)는 servers/ai_server path(경로)를 언급하지만 current repository(현재 저장소) file list(파일 목록)에는 없습니다.</a:t>
            </a:r>
          </a:p>
        </p:txBody>
      </p:sp>
      <p:sp>
        <p:nvSpPr>
          <p:cNvPr id="31" name="text31"/>
          <p:cNvSpPr txBox="1"/>
          <p:nvPr/>
        </p:nvSpPr>
        <p:spPr>
          <a:xfrm>
            <a:off x="685800" y="5074920"/>
            <a:ext cx="1060704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c"/>
            <a:r>
              <a:rPr lang="ko-KR" sz="1600" b="1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Presentation(발표 자료)는 README(리드미)보다 actual implementation(실제 구현)을 우선해 구성했습니다.</a:t>
            </a:r>
          </a:p>
        </p:txBody>
      </p:sp>
      <p:sp>
        <p:nvSpPr>
          <p:cNvPr id="32" name="text32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33" name="text33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07/29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Runtime View(실행 관점)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System Architecture(시스템 아키텍처)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text7"/>
          <p:cNvSpPr txBox="1"/>
          <p:nvPr/>
        </p:nvSpPr>
        <p:spPr>
          <a:xfrm>
            <a:off x="685800" y="1572768"/>
            <a:ext cx="2057400" cy="713232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6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Mobile client(모바일 클라이언트)</a:t>
            </a:r>
          </a:p>
        </p:txBody>
      </p:sp>
      <p:sp>
        <p:nvSpPr>
          <p:cNvPr id="8" name="shape8"/>
          <p:cNvSpPr/>
          <p:nvPr/>
        </p:nvSpPr>
        <p:spPr>
          <a:xfrm>
            <a:off x="2907792" y="1856231"/>
            <a:ext cx="685800" cy="164592"/>
          </a:xfrm>
          <a:prstGeom prst="rightArrow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9" name="text9"/>
          <p:cNvSpPr txBox="1"/>
          <p:nvPr/>
        </p:nvSpPr>
        <p:spPr>
          <a:xfrm>
            <a:off x="3822191" y="1417320"/>
            <a:ext cx="2651760" cy="1024128"/>
          </a:xfrm>
          <a:prstGeom prst="roundRect">
            <a:avLst/>
          </a:prstGeom>
          <a:solidFill>
            <a:srgbClr val="2AA7A5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5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General server(일반 서버)
FastAPI(패스트API)
REST API(REST API) + WebSocket(웹소켓)</a:t>
            </a:r>
          </a:p>
        </p:txBody>
      </p:sp>
      <p:sp>
        <p:nvSpPr>
          <p:cNvPr id="10" name="shape10"/>
          <p:cNvSpPr/>
          <p:nvPr/>
        </p:nvSpPr>
        <p:spPr>
          <a:xfrm>
            <a:off x="6656832" y="1856231"/>
            <a:ext cx="685800" cy="164592"/>
          </a:xfrm>
          <a:prstGeom prst="rightArrow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11" name="text11"/>
          <p:cNvSpPr txBox="1"/>
          <p:nvPr/>
        </p:nvSpPr>
        <p:spPr>
          <a:xfrm>
            <a:off x="7571231" y="1417320"/>
            <a:ext cx="2514600" cy="1024128"/>
          </a:xfrm>
          <a:prstGeom prst="roundRect">
            <a:avLst/>
          </a:prstGeom>
          <a:solidFill>
            <a:srgbClr val="F26957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5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AI server(인공지능 서버)
Dance/Food analysis(분석)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3822191" y="3337560"/>
            <a:ext cx="2651760" cy="822960"/>
          </a:xfrm>
          <a:prstGeom prst="roundRect">
            <a:avLst/>
          </a:prstGeom>
          <a:solidFill>
            <a:srgbClr val="73B66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5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Supabase(슈파베이스)
database(데이터베이스) + storage(스토리지)</a:t>
            </a:r>
          </a:p>
        </p:txBody>
      </p:sp>
      <p:sp>
        <p:nvSpPr>
          <p:cNvPr id="13" name="shape13"/>
          <p:cNvSpPr/>
          <p:nvPr/>
        </p:nvSpPr>
        <p:spPr>
          <a:xfrm>
            <a:off x="4800600" y="2542032"/>
            <a:ext cx="292608" cy="566928"/>
          </a:xfrm>
          <a:prstGeom prst="downArrow">
            <a:avLst/>
          </a:prstGeom>
          <a:solidFill>
            <a:srgbClr val="73B66B"/>
          </a:solidFill>
          <a:ln>
            <a:noFill/>
          </a:ln>
        </p:spPr>
      </p:sp>
      <p:sp>
        <p:nvSpPr>
          <p:cNvPr id="14" name="bullets14"/>
          <p:cNvSpPr txBox="1"/>
          <p:nvPr/>
        </p:nvSpPr>
        <p:spPr>
          <a:xfrm>
            <a:off x="713232" y="4526280"/>
            <a:ext cx="105156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t" lIns="137160" rIns="91440" tIns="91440" bIns="91440">
            <a:normAutofit fontScale="80000" lnSpcReduction="25000"/>
          </a:bodyPr>
          <a:lstStyle/>
          <a:p>
            <a:pPr marL="228600" indent="-171450">
              <a:buChar char="•"/>
            </a:pPr>
            <a:r>
              <a:rPr lang="ko-KR" sz="14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REST request(REST 요청)는 profile(프로필), home(홈), class(클래스), record(기록), food intake(식단 섭취)를 처리합니다.</a:t>
            </a:r>
          </a:p>
          <a:p>
            <a:pPr marL="228600" indent="-171450">
              <a:buChar char="•"/>
            </a:pPr>
            <a:r>
              <a:rPr lang="ko-KR" sz="14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WebSocket(웹소켓)은 live session frame(실시간 세션 프레임)을 AI server(인공지능 서버)에 relay(중계)합니다.</a:t>
            </a:r>
          </a:p>
          <a:p>
            <a:pPr marL="228600" indent="-171450">
              <a:buChar char="•"/>
            </a:pPr>
            <a:r>
              <a:rPr lang="ko-KR" sz="14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Supabase(슈파베이스)는 user data(사용자 데이터)와 image file(이미지 파일)의 persistence(영속성)를 담당합니다.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08/29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Pydantic Schema(파이단틱 스키마) 중심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Data Definition Map(데이터 정의 지도)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shape7"/>
          <p:cNvSpPr/>
          <p:nvPr/>
        </p:nvSpPr>
        <p:spPr>
          <a:xfrm>
            <a:off x="658368" y="1417320"/>
            <a:ext cx="2514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8" name="shape8"/>
          <p:cNvSpPr/>
          <p:nvPr/>
        </p:nvSpPr>
        <p:spPr>
          <a:xfrm>
            <a:off x="658368" y="1417320"/>
            <a:ext cx="73152" cy="1005840"/>
          </a:xfrm>
          <a:prstGeom prst="rect">
            <a:avLst/>
          </a:prstGeom>
          <a:solidFill>
            <a:srgbClr val="3B7DDD"/>
          </a:solidFill>
          <a:ln>
            <a:noFill/>
          </a:ln>
        </p:spPr>
      </p:sp>
      <p:sp>
        <p:nvSpPr>
          <p:cNvPr id="9" name="text9"/>
          <p:cNvSpPr txBox="1"/>
          <p:nvPr/>
        </p:nvSpPr>
        <p:spPr>
          <a:xfrm>
            <a:off x="804672" y="1545336"/>
            <a:ext cx="222199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UserSignUp(사용자 가입)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804672" y="1920240"/>
            <a:ext cx="2221992" cy="43891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name, email, password, age, created_at
-&gt; SignUp table(가입 테이블) row(행)</a:t>
            </a:r>
          </a:p>
        </p:txBody>
      </p:sp>
      <p:sp>
        <p:nvSpPr>
          <p:cNvPr id="11" name="shape11"/>
          <p:cNvSpPr/>
          <p:nvPr/>
        </p:nvSpPr>
        <p:spPr>
          <a:xfrm>
            <a:off x="3456432" y="1417320"/>
            <a:ext cx="2514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2" name="shape12"/>
          <p:cNvSpPr/>
          <p:nvPr/>
        </p:nvSpPr>
        <p:spPr>
          <a:xfrm>
            <a:off x="3456432" y="1417320"/>
            <a:ext cx="73152" cy="100584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13" name="text13"/>
          <p:cNvSpPr txBox="1"/>
          <p:nvPr/>
        </p:nvSpPr>
        <p:spPr>
          <a:xfrm>
            <a:off x="3602736" y="1545336"/>
            <a:ext cx="222199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UserProfileUpdate(프로필 수정)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3602736" y="1920240"/>
            <a:ext cx="2221992" cy="43891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height, weight, target_weight, target_day, image path(이미지 경로)
-&gt; Profile table(프로필 테이블)</a:t>
            </a:r>
          </a:p>
        </p:txBody>
      </p:sp>
      <p:sp>
        <p:nvSpPr>
          <p:cNvPr id="15" name="shape15"/>
          <p:cNvSpPr/>
          <p:nvPr/>
        </p:nvSpPr>
        <p:spPr>
          <a:xfrm>
            <a:off x="6254496" y="1417320"/>
            <a:ext cx="2514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6" name="shape16"/>
          <p:cNvSpPr/>
          <p:nvPr/>
        </p:nvSpPr>
        <p:spPr>
          <a:xfrm>
            <a:off x="6254496" y="1417320"/>
            <a:ext cx="73152" cy="100584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17" name="text17"/>
          <p:cNvSpPr txBox="1"/>
          <p:nvPr/>
        </p:nvSpPr>
        <p:spPr>
          <a:xfrm>
            <a:off x="6400800" y="1545336"/>
            <a:ext cx="222199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LiveSessionStartRequest(세션 시작 요청)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6400800" y="1920240"/>
            <a:ext cx="2221992" cy="43891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uuid, dance_type, content_id
-&gt; session_id + ws_url response(응답)</a:t>
            </a:r>
          </a:p>
        </p:txBody>
      </p:sp>
      <p:sp>
        <p:nvSpPr>
          <p:cNvPr id="19" name="shape19"/>
          <p:cNvSpPr/>
          <p:nvPr/>
        </p:nvSpPr>
        <p:spPr>
          <a:xfrm>
            <a:off x="9052560" y="1417320"/>
            <a:ext cx="2514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20" name="shape20"/>
          <p:cNvSpPr/>
          <p:nvPr/>
        </p:nvSpPr>
        <p:spPr>
          <a:xfrm>
            <a:off x="9052560" y="1417320"/>
            <a:ext cx="73152" cy="100584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21" name="text21"/>
          <p:cNvSpPr txBox="1"/>
          <p:nvPr/>
        </p:nvSpPr>
        <p:spPr>
          <a:xfrm>
            <a:off x="9198864" y="1545336"/>
            <a:ext cx="222199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LiveSessionEndResponse(세션 종료 응답)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9198864" y="1920240"/>
            <a:ext cx="2221992" cy="43891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total_frames, elapsed_seconds, total_calories, ended_at</a:t>
            </a:r>
          </a:p>
        </p:txBody>
      </p:sp>
      <p:sp>
        <p:nvSpPr>
          <p:cNvPr id="23" name="shape23"/>
          <p:cNvSpPr/>
          <p:nvPr/>
        </p:nvSpPr>
        <p:spPr>
          <a:xfrm>
            <a:off x="3182112" y="1828800"/>
            <a:ext cx="164592" cy="137160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24" name="shape24"/>
          <p:cNvSpPr/>
          <p:nvPr/>
        </p:nvSpPr>
        <p:spPr>
          <a:xfrm>
            <a:off x="5980176" y="1828800"/>
            <a:ext cx="164592" cy="137160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25" name="shape25"/>
          <p:cNvSpPr/>
          <p:nvPr/>
        </p:nvSpPr>
        <p:spPr>
          <a:xfrm>
            <a:off x="8778240" y="1828800"/>
            <a:ext cx="164592" cy="137160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26" name="shape26"/>
          <p:cNvSpPr/>
          <p:nvPr/>
        </p:nvSpPr>
        <p:spPr>
          <a:xfrm>
            <a:off x="658368" y="2999232"/>
            <a:ext cx="2514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27" name="shape27"/>
          <p:cNvSpPr/>
          <p:nvPr/>
        </p:nvSpPr>
        <p:spPr>
          <a:xfrm>
            <a:off x="658368" y="2999232"/>
            <a:ext cx="73152" cy="1005840"/>
          </a:xfrm>
          <a:prstGeom prst="rect">
            <a:avLst/>
          </a:prstGeom>
          <a:solidFill>
            <a:srgbClr val="3B7DDD"/>
          </a:solidFill>
          <a:ln>
            <a:noFill/>
          </a:ln>
        </p:spPr>
      </p:sp>
      <p:sp>
        <p:nvSpPr>
          <p:cNvPr id="28" name="text28"/>
          <p:cNvSpPr txBox="1"/>
          <p:nvPr/>
        </p:nvSpPr>
        <p:spPr>
          <a:xfrm>
            <a:off x="804672" y="3127248"/>
            <a:ext cx="222199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LiveFrameMessage(실시간 프레임 메시지)</a:t>
            </a:r>
          </a:p>
        </p:txBody>
      </p:sp>
      <p:sp>
        <p:nvSpPr>
          <p:cNvPr id="29" name="text29"/>
          <p:cNvSpPr txBox="1"/>
          <p:nvPr/>
        </p:nvSpPr>
        <p:spPr>
          <a:xfrm>
            <a:off x="804672" y="3502152"/>
            <a:ext cx="2221992" cy="43891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UUID, session_id, frame_index, total_frame, image bytes(이미지 바이트), user_weight</a:t>
            </a:r>
          </a:p>
        </p:txBody>
      </p:sp>
      <p:sp>
        <p:nvSpPr>
          <p:cNvPr id="30" name="shape30"/>
          <p:cNvSpPr/>
          <p:nvPr/>
        </p:nvSpPr>
        <p:spPr>
          <a:xfrm>
            <a:off x="3456432" y="2999232"/>
            <a:ext cx="2514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31" name="shape31"/>
          <p:cNvSpPr/>
          <p:nvPr/>
        </p:nvSpPr>
        <p:spPr>
          <a:xfrm>
            <a:off x="3456432" y="2999232"/>
            <a:ext cx="73152" cy="100584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32" name="text32"/>
          <p:cNvSpPr txBox="1"/>
          <p:nvPr/>
        </p:nvSpPr>
        <p:spPr>
          <a:xfrm>
            <a:off x="3602736" y="3127248"/>
            <a:ext cx="222199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LiveFrameMessage_go_ai_server(AI 전달 메시지)</a:t>
            </a:r>
          </a:p>
        </p:txBody>
      </p:sp>
      <p:sp>
        <p:nvSpPr>
          <p:cNvPr id="33" name="text33"/>
          <p:cNvSpPr txBox="1"/>
          <p:nvPr/>
        </p:nvSpPr>
        <p:spPr>
          <a:xfrm>
            <a:off x="3602736" y="3502152"/>
            <a:ext cx="2221992" cy="43891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type=frame_base64, image string(이미지 문자열), metadata(메타데이터)</a:t>
            </a:r>
          </a:p>
        </p:txBody>
      </p:sp>
      <p:sp>
        <p:nvSpPr>
          <p:cNvPr id="34" name="shape34"/>
          <p:cNvSpPr/>
          <p:nvPr/>
        </p:nvSpPr>
        <p:spPr>
          <a:xfrm>
            <a:off x="6254496" y="2999232"/>
            <a:ext cx="2514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35" name="shape35"/>
          <p:cNvSpPr/>
          <p:nvPr/>
        </p:nvSpPr>
        <p:spPr>
          <a:xfrm>
            <a:off x="6254496" y="2999232"/>
            <a:ext cx="73152" cy="1005840"/>
          </a:xfrm>
          <a:prstGeom prst="rect">
            <a:avLst/>
          </a:prstGeom>
          <a:solidFill>
            <a:srgbClr val="73B66B"/>
          </a:solidFill>
          <a:ln>
            <a:noFill/>
          </a:ln>
        </p:spPr>
      </p:sp>
      <p:sp>
        <p:nvSpPr>
          <p:cNvPr id="36" name="text36"/>
          <p:cNvSpPr txBox="1"/>
          <p:nvPr/>
        </p:nvSpPr>
        <p:spPr>
          <a:xfrm>
            <a:off x="6400800" y="3127248"/>
            <a:ext cx="222199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AiLiveAnalysisMessage(AI 분석 메시지)</a:t>
            </a:r>
          </a:p>
        </p:txBody>
      </p:sp>
      <p:sp>
        <p:nvSpPr>
          <p:cNvPr id="37" name="text37"/>
          <p:cNvSpPr txBox="1"/>
          <p:nvPr/>
        </p:nvSpPr>
        <p:spPr>
          <a:xfrm>
            <a:off x="6400800" y="3502152"/>
            <a:ext cx="2221992" cy="43891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processed_at, calories_burned, movement_score</a:t>
            </a:r>
          </a:p>
        </p:txBody>
      </p:sp>
      <p:sp>
        <p:nvSpPr>
          <p:cNvPr id="38" name="shape38"/>
          <p:cNvSpPr/>
          <p:nvPr/>
        </p:nvSpPr>
        <p:spPr>
          <a:xfrm>
            <a:off x="9052560" y="2999232"/>
            <a:ext cx="25146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39" name="shape39"/>
          <p:cNvSpPr/>
          <p:nvPr/>
        </p:nvSpPr>
        <p:spPr>
          <a:xfrm>
            <a:off x="9052560" y="2999232"/>
            <a:ext cx="73152" cy="100584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40" name="text40"/>
          <p:cNvSpPr txBox="1"/>
          <p:nvPr/>
        </p:nvSpPr>
        <p:spPr>
          <a:xfrm>
            <a:off x="9198864" y="3127248"/>
            <a:ext cx="222199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LiveFrameResultMessage(프레임 결과 메시지)</a:t>
            </a:r>
          </a:p>
        </p:txBody>
      </p:sp>
      <p:sp>
        <p:nvSpPr>
          <p:cNvPr id="41" name="text41"/>
          <p:cNvSpPr txBox="1"/>
          <p:nvPr/>
        </p:nvSpPr>
        <p:spPr>
          <a:xfrm>
            <a:off x="9198864" y="3502152"/>
            <a:ext cx="2221992" cy="43891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accepted, total_frames, elapsed_seconds, total_calories, movement_score</a:t>
            </a:r>
          </a:p>
        </p:txBody>
      </p:sp>
      <p:sp>
        <p:nvSpPr>
          <p:cNvPr id="42" name="shape42"/>
          <p:cNvSpPr/>
          <p:nvPr/>
        </p:nvSpPr>
        <p:spPr>
          <a:xfrm>
            <a:off x="3182112" y="3410712"/>
            <a:ext cx="164592" cy="137160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43" name="shape43"/>
          <p:cNvSpPr/>
          <p:nvPr/>
        </p:nvSpPr>
        <p:spPr>
          <a:xfrm>
            <a:off x="5980176" y="3410712"/>
            <a:ext cx="164592" cy="137160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44" name="shape44"/>
          <p:cNvSpPr/>
          <p:nvPr/>
        </p:nvSpPr>
        <p:spPr>
          <a:xfrm>
            <a:off x="8778240" y="3410712"/>
            <a:ext cx="164592" cy="137160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45" name="shape45"/>
          <p:cNvSpPr/>
          <p:nvPr/>
        </p:nvSpPr>
        <p:spPr>
          <a:xfrm>
            <a:off x="658368" y="4590288"/>
            <a:ext cx="3474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46" name="shape46"/>
          <p:cNvSpPr/>
          <p:nvPr/>
        </p:nvSpPr>
        <p:spPr>
          <a:xfrm>
            <a:off x="658368" y="4590288"/>
            <a:ext cx="73152" cy="749808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47" name="text47"/>
          <p:cNvSpPr txBox="1"/>
          <p:nvPr/>
        </p:nvSpPr>
        <p:spPr>
          <a:xfrm>
            <a:off x="804672" y="4718303"/>
            <a:ext cx="318211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FoodItem(음식 항목)</a:t>
            </a:r>
          </a:p>
        </p:txBody>
      </p:sp>
      <p:sp>
        <p:nvSpPr>
          <p:cNvPr id="48" name="text48"/>
          <p:cNvSpPr txBox="1"/>
          <p:nvPr/>
        </p:nvSpPr>
        <p:spPr>
          <a:xfrm>
            <a:off x="804672" y="5093207"/>
            <a:ext cx="3182112" cy="182879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label, calories, confidence</a:t>
            </a:r>
          </a:p>
        </p:txBody>
      </p:sp>
      <p:sp>
        <p:nvSpPr>
          <p:cNvPr id="49" name="shape49"/>
          <p:cNvSpPr/>
          <p:nvPr/>
        </p:nvSpPr>
        <p:spPr>
          <a:xfrm>
            <a:off x="4370832" y="4590288"/>
            <a:ext cx="34747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50" name="shape50"/>
          <p:cNvSpPr/>
          <p:nvPr/>
        </p:nvSpPr>
        <p:spPr>
          <a:xfrm>
            <a:off x="4370832" y="4590288"/>
            <a:ext cx="73152" cy="749808"/>
          </a:xfrm>
          <a:prstGeom prst="rect">
            <a:avLst/>
          </a:prstGeom>
          <a:solidFill>
            <a:srgbClr val="73B66B"/>
          </a:solidFill>
          <a:ln>
            <a:noFill/>
          </a:ln>
        </p:spPr>
      </p:sp>
      <p:sp>
        <p:nvSpPr>
          <p:cNvPr id="51" name="text51"/>
          <p:cNvSpPr txBox="1"/>
          <p:nvPr/>
        </p:nvSpPr>
        <p:spPr>
          <a:xfrm>
            <a:off x="4517136" y="4718303"/>
            <a:ext cx="318211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FoodIntakeAnalysisResponse(식단 섭취 분석 응답)</a:t>
            </a:r>
          </a:p>
        </p:txBody>
      </p:sp>
      <p:sp>
        <p:nvSpPr>
          <p:cNvPr id="52" name="text52"/>
          <p:cNvSpPr txBox="1"/>
          <p:nvPr/>
        </p:nvSpPr>
        <p:spPr>
          <a:xfrm>
            <a:off x="4517136" y="5093207"/>
            <a:ext cx="3182112" cy="182879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foods list(음식 목록), total_calories, source, analyzed_at</a:t>
            </a:r>
          </a:p>
        </p:txBody>
      </p:sp>
      <p:sp>
        <p:nvSpPr>
          <p:cNvPr id="53" name="shape53"/>
          <p:cNvSpPr/>
          <p:nvPr/>
        </p:nvSpPr>
        <p:spPr>
          <a:xfrm>
            <a:off x="8083296" y="4590288"/>
            <a:ext cx="32004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54" name="shape54"/>
          <p:cNvSpPr/>
          <p:nvPr/>
        </p:nvSpPr>
        <p:spPr>
          <a:xfrm>
            <a:off x="8083296" y="4590288"/>
            <a:ext cx="73152" cy="749808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5" name="text55"/>
          <p:cNvSpPr txBox="1"/>
          <p:nvPr/>
        </p:nvSpPr>
        <p:spPr>
          <a:xfrm>
            <a:off x="8229600" y="4718303"/>
            <a:ext cx="290779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FoodRecordResponse(식단 기록 응답)</a:t>
            </a:r>
          </a:p>
        </p:txBody>
      </p:sp>
      <p:sp>
        <p:nvSpPr>
          <p:cNvPr id="56" name="text56"/>
          <p:cNvSpPr txBox="1"/>
          <p:nvPr/>
        </p:nvSpPr>
        <p:spPr>
          <a:xfrm>
            <a:off x="8229600" y="5093207"/>
            <a:ext cx="2907792" cy="182879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UUID, Day, Foods, TotalCalories, RecordCount</a:t>
            </a:r>
          </a:p>
        </p:txBody>
      </p:sp>
      <p:sp>
        <p:nvSpPr>
          <p:cNvPr id="57" name="text57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58" name="text58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09/29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Host(호스트), Port(포트), Path(경로)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Runtime Config(실행 설정)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text7"/>
          <p:cNvSpPr txBox="1"/>
          <p:nvPr/>
        </p:nvSpPr>
        <p:spPr>
          <a:xfrm>
            <a:off x="749808" y="1417320"/>
            <a:ext cx="2926080" cy="420624"/>
          </a:xfrm>
          <a:prstGeom prst="roundRect">
            <a:avLst/>
          </a:prstGeom>
          <a:solidFill>
            <a:srgbClr val="17212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GENERAL_SERVER_HOST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3822191" y="1417320"/>
            <a:ext cx="27432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127.0.0.1 default(기본값)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6720840" y="1417320"/>
            <a:ext cx="42519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FastAPI app bind address(앱 바인드 주소)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749808" y="2039112"/>
            <a:ext cx="2926080" cy="420624"/>
          </a:xfrm>
          <a:prstGeom prst="roundRect">
            <a:avLst/>
          </a:prstGeom>
          <a:solidFill>
            <a:srgbClr val="17212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GENERAL_SERVER_PORT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3822191" y="2039112"/>
            <a:ext cx="27432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8000 default(기본값)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6720840" y="2039112"/>
            <a:ext cx="42519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mobile client(모바일 클라이언트)가 접근하는 API port(API 포트)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49808" y="2660904"/>
            <a:ext cx="2926080" cy="420624"/>
          </a:xfrm>
          <a:prstGeom prst="roundRect">
            <a:avLst/>
          </a:prstGeom>
          <a:solidFill>
            <a:srgbClr val="17212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AI_HOST / AI_PORT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3822191" y="2660904"/>
            <a:ext cx="27432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0.0.0.0 / 8001 default(기본값)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6720840" y="2660904"/>
            <a:ext cx="42519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AI server(인공지능 서버) WebSocket target(웹소켓 대상)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749808" y="3282696"/>
            <a:ext cx="2926080" cy="420624"/>
          </a:xfrm>
          <a:prstGeom prst="roundRect">
            <a:avLst/>
          </a:prstGeom>
          <a:solidFill>
            <a:srgbClr val="17212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AI_DANCE_WS_PATH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3822191" y="3282696"/>
            <a:ext cx="27432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/ws/dance/analyze default(기본값)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6720840" y="3282696"/>
            <a:ext cx="42519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dance frame analysis path(댄스 프레임 분석 경로)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749808" y="3904488"/>
            <a:ext cx="2926080" cy="420624"/>
          </a:xfrm>
          <a:prstGeom prst="roundRect">
            <a:avLst/>
          </a:prstGeom>
          <a:solidFill>
            <a:srgbClr val="17212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AI_FOOD_WS_PATH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3822191" y="3904488"/>
            <a:ext cx="27432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/ws/food/analyze default(기본값)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6720840" y="3904488"/>
            <a:ext cx="42519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food image analysis path(음식 이미지 분석 경로)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749808" y="4526280"/>
            <a:ext cx="2926080" cy="420624"/>
          </a:xfrm>
          <a:prstGeom prst="roundRect">
            <a:avLst/>
          </a:prstGeom>
          <a:solidFill>
            <a:srgbClr val="17212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SUPABASE_URL / SUPABASE_KEY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3822191" y="4526280"/>
            <a:ext cx="274320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.env file(.env 파일)</a:t>
            </a:r>
          </a:p>
        </p:txBody>
      </p:sp>
      <p:sp>
        <p:nvSpPr>
          <p:cNvPr id="24" name="text24"/>
          <p:cNvSpPr txBox="1"/>
          <p:nvPr/>
        </p:nvSpPr>
        <p:spPr>
          <a:xfrm>
            <a:off x="6720840" y="4526280"/>
            <a:ext cx="42519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database/storage credential(데이터베이스/스토리지 자격 증명)</a:t>
            </a:r>
          </a:p>
        </p:txBody>
      </p:sp>
      <p:sp>
        <p:nvSpPr>
          <p:cNvPr id="25" name="text25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26" name="text26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10/29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WebSocket(웹소켓) Scenario(시나리오)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Live Session Flow(실시간 세션 흐름)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text7"/>
          <p:cNvSpPr txBox="1"/>
          <p:nvPr/>
        </p:nvSpPr>
        <p:spPr>
          <a:xfrm>
            <a:off x="658368" y="1664208"/>
            <a:ext cx="502920" cy="502920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8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1252728" y="1554480"/>
            <a:ext cx="14630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1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POST(전송)
/api/live/session/start</a:t>
            </a:r>
          </a:p>
        </p:txBody>
      </p:sp>
      <p:sp>
        <p:nvSpPr>
          <p:cNvPr id="9" name="shape9"/>
          <p:cNvSpPr/>
          <p:nvPr/>
        </p:nvSpPr>
        <p:spPr>
          <a:xfrm>
            <a:off x="2743200" y="1874519"/>
            <a:ext cx="347472" cy="137160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0" name="text10"/>
          <p:cNvSpPr txBox="1"/>
          <p:nvPr/>
        </p:nvSpPr>
        <p:spPr>
          <a:xfrm>
            <a:off x="2880360" y="1664208"/>
            <a:ext cx="502920" cy="502920"/>
          </a:xfrm>
          <a:prstGeom prst="roundRect">
            <a:avLst/>
          </a:prstGeom>
          <a:solidFill>
            <a:srgbClr val="2AA7A5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8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3474720" y="1554480"/>
            <a:ext cx="14630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1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ws_url response(응답)
client connection(연결)</a:t>
            </a:r>
          </a:p>
        </p:txBody>
      </p:sp>
      <p:sp>
        <p:nvSpPr>
          <p:cNvPr id="12" name="shape12"/>
          <p:cNvSpPr/>
          <p:nvPr/>
        </p:nvSpPr>
        <p:spPr>
          <a:xfrm>
            <a:off x="4965192" y="1874519"/>
            <a:ext cx="347472" cy="137160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3" name="text13"/>
          <p:cNvSpPr txBox="1"/>
          <p:nvPr/>
        </p:nvSpPr>
        <p:spPr>
          <a:xfrm>
            <a:off x="5102352" y="1664208"/>
            <a:ext cx="502920" cy="502920"/>
          </a:xfrm>
          <a:prstGeom prst="roundRect">
            <a:avLst/>
          </a:prstGeom>
          <a:solidFill>
            <a:srgbClr val="F26957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8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3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5696712" y="1554480"/>
            <a:ext cx="14630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1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frame payload(프레임 페이로드)
image bytes/base64(이미지 바이트/베이스64)</a:t>
            </a:r>
          </a:p>
        </p:txBody>
      </p:sp>
      <p:sp>
        <p:nvSpPr>
          <p:cNvPr id="15" name="shape15"/>
          <p:cNvSpPr/>
          <p:nvPr/>
        </p:nvSpPr>
        <p:spPr>
          <a:xfrm>
            <a:off x="7187183" y="1874519"/>
            <a:ext cx="347472" cy="137160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6" name="text16"/>
          <p:cNvSpPr txBox="1"/>
          <p:nvPr/>
        </p:nvSpPr>
        <p:spPr>
          <a:xfrm>
            <a:off x="7324344" y="1664208"/>
            <a:ext cx="502920" cy="502920"/>
          </a:xfrm>
          <a:prstGeom prst="roundRect">
            <a:avLst/>
          </a:prstGeom>
          <a:solidFill>
            <a:srgbClr val="E5B94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8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4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7918704" y="1554480"/>
            <a:ext cx="14630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1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AI analysis(인공지능 분석)
calorie + score(칼로리 + 점수)</a:t>
            </a:r>
          </a:p>
        </p:txBody>
      </p:sp>
      <p:sp>
        <p:nvSpPr>
          <p:cNvPr id="18" name="shape18"/>
          <p:cNvSpPr/>
          <p:nvPr/>
        </p:nvSpPr>
        <p:spPr>
          <a:xfrm>
            <a:off x="9409176" y="1874519"/>
            <a:ext cx="347472" cy="137160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9" name="text19"/>
          <p:cNvSpPr txBox="1"/>
          <p:nvPr/>
        </p:nvSpPr>
        <p:spPr>
          <a:xfrm>
            <a:off x="9546336" y="1664208"/>
            <a:ext cx="502920" cy="502920"/>
          </a:xfrm>
          <a:prstGeom prst="roundRect">
            <a:avLst/>
          </a:prstGeom>
          <a:solidFill>
            <a:srgbClr val="73B66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8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5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10140696" y="1554480"/>
            <a:ext cx="14630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1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frame_result response(응답)
progress(진행 상태)</a:t>
            </a:r>
          </a:p>
        </p:txBody>
      </p:sp>
      <p:sp>
        <p:nvSpPr>
          <p:cNvPr id="21" name="bullets21"/>
          <p:cNvSpPr txBox="1"/>
          <p:nvPr/>
        </p:nvSpPr>
        <p:spPr>
          <a:xfrm>
            <a:off x="713232" y="3246120"/>
            <a:ext cx="106070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t" lIns="137160" rIns="91440" tIns="91440" bIns="91440">
            <a:normAutofit fontScale="80000" lnSpcReduction="25000"/>
          </a:bodyPr>
          <a:lstStyle/>
          <a:p>
            <a:pPr marL="228600" indent="-171450">
              <a:buChar char="•"/>
            </a:pPr>
            <a:r>
              <a:rPr lang="ko-KR" sz="15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session_manager.py stores LIVE_SESSIONS dict(딕셔너리)에 status(상태), total_frames(총 프레임), elapsed_seconds(경과 초), total_calories(총 칼로리)를 보관합니다.</a:t>
            </a:r>
          </a:p>
          <a:p>
            <a:pPr marL="228600" indent="-171450">
              <a:buChar char="•"/>
            </a:pPr>
            <a:r>
              <a:rPr lang="ko-KR" sz="15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ai_outbound.py uses per-session request_lock(세션별 요청 잠금)으로 AI server message(인공지능 서버 메시지) 순서를 보호합니다.</a:t>
            </a:r>
          </a:p>
          <a:p>
            <a:pPr marL="228600" indent="-171450">
              <a:buChar char="•"/>
            </a:pPr>
            <a:r>
              <a:rPr lang="ko-KR" sz="15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session end(세션 종료)는 client socket(클라이언트 소켓)과 AI connection(인공지능 연결)을 닫고 summary response(요약 응답)를 반환합니다.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11/29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Frame(프레임) Transformation(변환)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Live Payload Data Flow(실시간 페이로드 데이터 흐름)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text7"/>
          <p:cNvSpPr txBox="1"/>
          <p:nvPr/>
        </p:nvSpPr>
        <p:spPr>
          <a:xfrm>
            <a:off x="658368" y="1444752"/>
            <a:ext cx="1783080" cy="530352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1 Start request(시작 요청)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658368" y="205740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0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LiveSessionStartRequest
uuid
dance_type
content_id</a:t>
            </a:r>
          </a:p>
        </p:txBody>
      </p:sp>
      <p:sp>
        <p:nvSpPr>
          <p:cNvPr id="9" name="shape9"/>
          <p:cNvSpPr/>
          <p:nvPr/>
        </p:nvSpPr>
        <p:spPr>
          <a:xfrm>
            <a:off x="2578608" y="2395728"/>
            <a:ext cx="347472" cy="128016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0" name="text10"/>
          <p:cNvSpPr txBox="1"/>
          <p:nvPr/>
        </p:nvSpPr>
        <p:spPr>
          <a:xfrm>
            <a:off x="3063240" y="1444752"/>
            <a:ext cx="1783080" cy="530352"/>
          </a:xfrm>
          <a:prstGeom prst="roundRect">
            <a:avLst/>
          </a:prstGeom>
          <a:solidFill>
            <a:srgbClr val="2AA7A5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2 Session state(세션 상태)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3063240" y="205740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0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LIVE_SESSIONS
session_id
status=active
started_at</a:t>
            </a:r>
          </a:p>
        </p:txBody>
      </p:sp>
      <p:sp>
        <p:nvSpPr>
          <p:cNvPr id="12" name="shape12"/>
          <p:cNvSpPr/>
          <p:nvPr/>
        </p:nvSpPr>
        <p:spPr>
          <a:xfrm>
            <a:off x="4983480" y="2395728"/>
            <a:ext cx="347472" cy="128016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3" name="text13"/>
          <p:cNvSpPr txBox="1"/>
          <p:nvPr/>
        </p:nvSpPr>
        <p:spPr>
          <a:xfrm>
            <a:off x="5468112" y="1444752"/>
            <a:ext cx="1783080" cy="530352"/>
          </a:xfrm>
          <a:prstGeom prst="roundRect">
            <a:avLst/>
          </a:prstGeom>
          <a:solidFill>
            <a:srgbClr val="F26957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3 Client frame(클라이언트 프레임)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5468112" y="205740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0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LiveFrameMessage
image: bytes
frame_index
user_weight</a:t>
            </a:r>
          </a:p>
        </p:txBody>
      </p:sp>
      <p:sp>
        <p:nvSpPr>
          <p:cNvPr id="15" name="shape15"/>
          <p:cNvSpPr/>
          <p:nvPr/>
        </p:nvSpPr>
        <p:spPr>
          <a:xfrm>
            <a:off x="7388352" y="2395728"/>
            <a:ext cx="347472" cy="128016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6" name="text16"/>
          <p:cNvSpPr txBox="1"/>
          <p:nvPr/>
        </p:nvSpPr>
        <p:spPr>
          <a:xfrm>
            <a:off x="7882127" y="1444752"/>
            <a:ext cx="1783080" cy="530352"/>
          </a:xfrm>
          <a:prstGeom prst="roundRect">
            <a:avLst/>
          </a:prstGeom>
          <a:solidFill>
            <a:srgbClr val="E5B94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4 AI payload(AI 페이로드)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7882127" y="2057400"/>
            <a:ext cx="1783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0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LiveFrameMessage_go_ai_server
image: base64 string(문자열)
type=frame_base64</a:t>
            </a:r>
          </a:p>
        </p:txBody>
      </p:sp>
      <p:sp>
        <p:nvSpPr>
          <p:cNvPr id="18" name="shape18"/>
          <p:cNvSpPr/>
          <p:nvPr/>
        </p:nvSpPr>
        <p:spPr>
          <a:xfrm>
            <a:off x="9802368" y="2395728"/>
            <a:ext cx="347472" cy="128016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9" name="text19"/>
          <p:cNvSpPr txBox="1"/>
          <p:nvPr/>
        </p:nvSpPr>
        <p:spPr>
          <a:xfrm>
            <a:off x="10287000" y="1444752"/>
            <a:ext cx="1417320" cy="530352"/>
          </a:xfrm>
          <a:prstGeom prst="roundRect">
            <a:avLst/>
          </a:prstGeom>
          <a:solidFill>
            <a:srgbClr val="73B66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5 Result(결과)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10287000" y="2057400"/>
            <a:ext cx="1417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0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LiveFrameResultMessage
total_calories
movement_score</a:t>
            </a:r>
          </a:p>
        </p:txBody>
      </p:sp>
      <p:sp>
        <p:nvSpPr>
          <p:cNvPr id="21" name="bullets21"/>
          <p:cNvSpPr txBox="1"/>
          <p:nvPr/>
        </p:nvSpPr>
        <p:spPr>
          <a:xfrm>
            <a:off x="768096" y="3657600"/>
            <a:ext cx="10561320" cy="1325880"/>
          </a:xfrm>
          <a:prstGeom prst="roundRect">
            <a:avLst/>
          </a:prstGeom>
          <a:solidFill>
            <a:srgbClr val="EEF3F4"/>
          </a:solidFill>
          <a:ln w="12700">
            <a:solidFill>
              <a:srgbClr val="DFE4E8"/>
            </a:solidFill>
          </a:ln>
        </p:spPr>
        <p:txBody>
          <a:bodyPr wrap="square" anchor="t" lIns="137160" rIns="91440" tIns="91440" bIns="91440">
            <a:normAutofit fontScale="80000" lnSpcReduction="25000"/>
          </a:bodyPr>
          <a:lstStyle/>
          <a:p>
            <a:pPr marL="228600" indent="-171450">
              <a:buChar char="•"/>
            </a:pPr>
            <a:r>
              <a:rPr lang="ko-KR" sz="13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image data(이미지 데이터)는 client side(클라이언트 측)에서 bytes(바이트)로 들어오고, AI server(인공지능 서버) 전달 전 base64 string(베이스64 문자열)로 변환됩니다.</a:t>
            </a:r>
          </a:p>
          <a:p>
            <a:pPr marL="228600" indent="-171450">
              <a:buChar char="•"/>
            </a:pPr>
            <a:r>
              <a:rPr lang="ko-KR" sz="13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frame progress data(프레임 진행 데이터)는 client payload(클라이언트 페이로드)가 아니라 server-owned state(서버 소유 상태)에서 total_frames(총 프레임)와 elapsed_seconds(경과 초)를 누적합니다.</a:t>
            </a:r>
          </a:p>
          <a:p>
            <a:pPr marL="228600" indent="-171450">
              <a:buChar char="•"/>
            </a:pPr>
            <a:r>
              <a:rPr lang="ko-KR" sz="13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AI result data(AI 결과 데이터)는 calories_burned(소모 칼로리)와 movement_score(움직임 점수)를 제공하고, server(서버)가 total_calories(총 칼로리)에 합산합니다.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12/29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Message Contract(메시지 계약)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WebSocket Protocol(웹소켓 프로토콜)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shape7"/>
          <p:cNvSpPr/>
          <p:nvPr/>
        </p:nvSpPr>
        <p:spPr>
          <a:xfrm>
            <a:off x="749808" y="1572768"/>
            <a:ext cx="3063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8" name="shape8"/>
          <p:cNvSpPr/>
          <p:nvPr/>
        </p:nvSpPr>
        <p:spPr>
          <a:xfrm>
            <a:off x="749808" y="1572768"/>
            <a:ext cx="73152" cy="1417320"/>
          </a:xfrm>
          <a:prstGeom prst="rect">
            <a:avLst/>
          </a:prstGeom>
          <a:solidFill>
            <a:srgbClr val="3B7DDD"/>
          </a:solidFill>
          <a:ln>
            <a:noFill/>
          </a:ln>
        </p:spPr>
      </p:sp>
      <p:sp>
        <p:nvSpPr>
          <p:cNvPr id="9" name="text9"/>
          <p:cNvSpPr txBox="1"/>
          <p:nvPr/>
        </p:nvSpPr>
        <p:spPr>
          <a:xfrm>
            <a:off x="896112" y="1700784"/>
            <a:ext cx="277063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Client -&gt; General server(클라이언트 -&gt; 일반 서버)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896112" y="2075688"/>
            <a:ext cx="2770632" cy="85039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`frame_binary` message(메시지)
UUID, session_id, frame_index, total_frame, user_weight, image bytes(이미지 바이트).</a:t>
            </a:r>
          </a:p>
        </p:txBody>
      </p:sp>
      <p:sp>
        <p:nvSpPr>
          <p:cNvPr id="11" name="shape11"/>
          <p:cNvSpPr/>
          <p:nvPr/>
        </p:nvSpPr>
        <p:spPr>
          <a:xfrm>
            <a:off x="4069080" y="1572768"/>
            <a:ext cx="3063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2" name="shape12"/>
          <p:cNvSpPr/>
          <p:nvPr/>
        </p:nvSpPr>
        <p:spPr>
          <a:xfrm>
            <a:off x="4069080" y="1572768"/>
            <a:ext cx="73152" cy="14173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13" name="text13"/>
          <p:cNvSpPr txBox="1"/>
          <p:nvPr/>
        </p:nvSpPr>
        <p:spPr>
          <a:xfrm>
            <a:off x="4215384" y="1700784"/>
            <a:ext cx="277063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General -&gt; AI server(일반 서버 -&gt; 인공지능 서버)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4215384" y="2075688"/>
            <a:ext cx="2770632" cy="85039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`frame_base64` message(메시지)
image base64(이미지 베이스64), user_weight(사용자 체중), frame metadata(프레임 메타데이터).</a:t>
            </a:r>
          </a:p>
        </p:txBody>
      </p:sp>
      <p:sp>
        <p:nvSpPr>
          <p:cNvPr id="15" name="shape15"/>
          <p:cNvSpPr/>
          <p:nvPr/>
        </p:nvSpPr>
        <p:spPr>
          <a:xfrm>
            <a:off x="7388352" y="1572768"/>
            <a:ext cx="3063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6" name="shape16"/>
          <p:cNvSpPr/>
          <p:nvPr/>
        </p:nvSpPr>
        <p:spPr>
          <a:xfrm>
            <a:off x="7388352" y="1572768"/>
            <a:ext cx="73152" cy="1417320"/>
          </a:xfrm>
          <a:prstGeom prst="rect">
            <a:avLst/>
          </a:prstGeom>
          <a:solidFill>
            <a:srgbClr val="73B66B"/>
          </a:solidFill>
          <a:ln>
            <a:noFill/>
          </a:ln>
        </p:spPr>
      </p:sp>
      <p:sp>
        <p:nvSpPr>
          <p:cNvPr id="17" name="text17"/>
          <p:cNvSpPr txBox="1"/>
          <p:nvPr/>
        </p:nvSpPr>
        <p:spPr>
          <a:xfrm>
            <a:off x="7534656" y="1700784"/>
            <a:ext cx="277063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AI -&gt; Client(인공지능 -&gt; 클라이언트)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7534656" y="2075688"/>
            <a:ext cx="2770632" cy="85039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`frame_result` response(응답)
accepted(수락), calories_burned(소모 칼로리), total_calories(총 칼로리), movement_score(움직임 점수).</a:t>
            </a:r>
          </a:p>
        </p:txBody>
      </p:sp>
      <p:sp>
        <p:nvSpPr>
          <p:cNvPr id="19" name="shape19"/>
          <p:cNvSpPr/>
          <p:nvPr/>
        </p:nvSpPr>
        <p:spPr>
          <a:xfrm>
            <a:off x="3822191" y="2084831"/>
            <a:ext cx="164592" cy="164592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20" name="shape20"/>
          <p:cNvSpPr/>
          <p:nvPr/>
        </p:nvSpPr>
        <p:spPr>
          <a:xfrm>
            <a:off x="7150608" y="2084831"/>
            <a:ext cx="164592" cy="164592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21" name="bullets21"/>
          <p:cNvSpPr txBox="1"/>
          <p:nvPr/>
        </p:nvSpPr>
        <p:spPr>
          <a:xfrm>
            <a:off x="768096" y="3657600"/>
            <a:ext cx="10241280" cy="1298448"/>
          </a:xfrm>
          <a:prstGeom prst="roundRect">
            <a:avLst/>
          </a:prstGeom>
          <a:solidFill>
            <a:srgbClr val="EEF3F4"/>
          </a:solidFill>
          <a:ln w="12700">
            <a:solidFill>
              <a:srgbClr val="DFE4E8"/>
            </a:solidFill>
          </a:ln>
        </p:spPr>
        <p:txBody>
          <a:bodyPr wrap="square" anchor="t" lIns="137160" rIns="91440" tIns="91440" bIns="91440">
            <a:normAutofit fontScale="80000" lnSpcReduction="25000"/>
          </a:bodyPr>
          <a:lstStyle/>
          <a:p>
            <a:pPr marL="228600" indent="-171450">
              <a:buChar char="•"/>
            </a:pPr>
            <a:r>
              <a:rPr lang="ko-KR" sz="14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Current mismatch(현재 불일치): demo client(데모 클라이언트)는 `type=frame` + `image_base64`를 보내지만 route(라우트)는 `frame_binary`와 binary payload(바이너리 페이로드)를 기다립니다.</a:t>
            </a:r>
          </a:p>
          <a:p>
            <a:pPr marL="228600" indent="-171450">
              <a:buChar char="•"/>
            </a:pPr>
            <a:r>
              <a:rPr lang="ko-KR" sz="14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Fix direction(수정 방향): 하나의 protocol spec(프로토콜 명세)을 정하고 server/client/AI server(서버/클라이언트/인공지능 서버)를 같은 schema(스키마)로 맞춥니다.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13/29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Dance(댄스) vs Food(음식)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AI Bridge Flow(인공지능 브리지 흐름)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shape7"/>
          <p:cNvSpPr/>
          <p:nvPr/>
        </p:nvSpPr>
        <p:spPr>
          <a:xfrm>
            <a:off x="749808" y="1572768"/>
            <a:ext cx="4800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8" name="shape8"/>
          <p:cNvSpPr/>
          <p:nvPr/>
        </p:nvSpPr>
        <p:spPr>
          <a:xfrm>
            <a:off x="749808" y="1572768"/>
            <a:ext cx="73152" cy="14173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9" name="text9"/>
          <p:cNvSpPr txBox="1"/>
          <p:nvPr/>
        </p:nvSpPr>
        <p:spPr>
          <a:xfrm>
            <a:off x="896112" y="1700784"/>
            <a:ext cx="450799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Dance analysis(댄스 분석)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896112" y="2075688"/>
            <a:ext cx="4507992" cy="85039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initialize_ai_bridge(...) opens persistent WebSocket connection(지속 웹소켓 연결). Each frame request(프레임 요청)는 request_lock(요청 잠금) 안에서 send/recv(송수신)됩니다.</a:t>
            </a:r>
          </a:p>
        </p:txBody>
      </p:sp>
      <p:sp>
        <p:nvSpPr>
          <p:cNvPr id="11" name="shape11"/>
          <p:cNvSpPr/>
          <p:nvPr/>
        </p:nvSpPr>
        <p:spPr>
          <a:xfrm>
            <a:off x="5897880" y="1572768"/>
            <a:ext cx="4800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2" name="shape12"/>
          <p:cNvSpPr/>
          <p:nvPr/>
        </p:nvSpPr>
        <p:spPr>
          <a:xfrm>
            <a:off x="5897880" y="1572768"/>
            <a:ext cx="73152" cy="1417320"/>
          </a:xfrm>
          <a:prstGeom prst="rect">
            <a:avLst/>
          </a:prstGeom>
          <a:solidFill>
            <a:srgbClr val="73B66B"/>
          </a:solidFill>
          <a:ln>
            <a:noFill/>
          </a:ln>
        </p:spPr>
      </p:sp>
      <p:sp>
        <p:nvSpPr>
          <p:cNvPr id="13" name="text13"/>
          <p:cNvSpPr txBox="1"/>
          <p:nvPr/>
        </p:nvSpPr>
        <p:spPr>
          <a:xfrm>
            <a:off x="6044184" y="1700784"/>
            <a:ext cx="450799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Food analysis(음식 분석)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6044184" y="2075688"/>
            <a:ext cx="4507992" cy="85039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analyze_food_with_ai(...) opens per-request WebSocket connection(요청별 웹소켓 연결). ready message(준비 메시지)를 건너뛰고 analysis payload(분석 페이로드)를 받습니다.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1005840" y="3675887"/>
            <a:ext cx="2011680" cy="512064"/>
          </a:xfrm>
          <a:prstGeom prst="roundRect">
            <a:avLst/>
          </a:prstGeom>
          <a:solidFill>
            <a:srgbClr val="F26957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Connection error(연결 오류)</a:t>
            </a:r>
          </a:p>
        </p:txBody>
      </p:sp>
      <p:sp>
        <p:nvSpPr>
          <p:cNvPr id="16" name="shape16"/>
          <p:cNvSpPr/>
          <p:nvPr/>
        </p:nvSpPr>
        <p:spPr>
          <a:xfrm>
            <a:off x="3154680" y="3822191"/>
            <a:ext cx="457200" cy="146304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7" name="text17"/>
          <p:cNvSpPr txBox="1"/>
          <p:nvPr/>
        </p:nvSpPr>
        <p:spPr>
          <a:xfrm>
            <a:off x="3794760" y="3675887"/>
            <a:ext cx="2148840" cy="512064"/>
          </a:xfrm>
          <a:prstGeom prst="roundRect">
            <a:avLst/>
          </a:prstGeom>
          <a:solidFill>
            <a:srgbClr val="2AA7A5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close &amp; retry(종료 후 재시도)</a:t>
            </a:r>
          </a:p>
        </p:txBody>
      </p:sp>
      <p:sp>
        <p:nvSpPr>
          <p:cNvPr id="18" name="shape18"/>
          <p:cNvSpPr/>
          <p:nvPr/>
        </p:nvSpPr>
        <p:spPr>
          <a:xfrm>
            <a:off x="6080760" y="3822191"/>
            <a:ext cx="457200" cy="146304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9" name="text19"/>
          <p:cNvSpPr txBox="1"/>
          <p:nvPr/>
        </p:nvSpPr>
        <p:spPr>
          <a:xfrm>
            <a:off x="6720840" y="3675887"/>
            <a:ext cx="2148840" cy="512064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HTTP 502 response(HTTP 502 응답)</a:t>
            </a:r>
          </a:p>
        </p:txBody>
      </p:sp>
      <p:sp>
        <p:nvSpPr>
          <p:cNvPr id="20" name="shape20"/>
          <p:cNvSpPr/>
          <p:nvPr/>
        </p:nvSpPr>
        <p:spPr>
          <a:xfrm>
            <a:off x="9006840" y="3822191"/>
            <a:ext cx="457200" cy="146304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21" name="text21"/>
          <p:cNvSpPr txBox="1"/>
          <p:nvPr/>
        </p:nvSpPr>
        <p:spPr>
          <a:xfrm>
            <a:off x="9646920" y="3675887"/>
            <a:ext cx="1417320" cy="512064"/>
          </a:xfrm>
          <a:prstGeom prst="roundRect">
            <a:avLst/>
          </a:prstGeom>
          <a:solidFill>
            <a:srgbClr val="73B66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fallback(대체)</a:t>
            </a:r>
          </a:p>
        </p:txBody>
      </p:sp>
      <p:sp>
        <p:nvSpPr>
          <p:cNvPr id="22" name="bullets22"/>
          <p:cNvSpPr txBox="1"/>
          <p:nvPr/>
        </p:nvSpPr>
        <p:spPr>
          <a:xfrm>
            <a:off x="768096" y="4800600"/>
            <a:ext cx="101498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t" lIns="137160" rIns="91440" tIns="91440" bIns="91440">
            <a:normAutofit fontScale="80000" lnSpcReduction="25000"/>
          </a:bodyPr>
          <a:lstStyle/>
          <a:p>
            <a:pPr marL="228600" indent="-171450">
              <a:buChar char="•"/>
            </a:pPr>
            <a:r>
              <a:rPr lang="ko-KR" sz="13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food flow(음식 흐름)는 mock fallback(모의 대체)이 있지만 dance flow(댄스 흐름)는 AI server(인공지능 서버) 연결 실패 시 user-facing error(사용자 노출 오류)가 될 가능성이 큽니다.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24" name="text24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14/29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Implemented Routes(구현 라우트)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API Surface(엔드포인트 표면)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text7"/>
          <p:cNvSpPr txBox="1"/>
          <p:nvPr/>
        </p:nvSpPr>
        <p:spPr>
          <a:xfrm>
            <a:off x="713232" y="1572768"/>
            <a:ext cx="2331720" cy="475488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User/Profile(사용자/프로필)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3218688" y="1572768"/>
            <a:ext cx="7818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1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POST /api/signup | DELETE /api/user/{uuid} | POST /api/user/{uuid} | PUT /api/Profile/{uuid}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713232" y="2322576"/>
            <a:ext cx="2331720" cy="475488"/>
          </a:xfrm>
          <a:prstGeom prst="roundRect">
            <a:avLst/>
          </a:prstGeom>
          <a:solidFill>
            <a:srgbClr val="73B66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Home/Food(홈/식단)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3218688" y="2322576"/>
            <a:ext cx="7818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1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GET /api/home/{uuid} | POST /api/food/intake | GET /api/daily_food_intake/{uuid}/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13232" y="3072384"/>
            <a:ext cx="2331720" cy="475488"/>
          </a:xfrm>
          <a:prstGeom prst="roundRect">
            <a:avLst/>
          </a:prstGeom>
          <a:solidFill>
            <a:srgbClr val="F26957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Live Session(실시간 세션)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3218688" y="3072384"/>
            <a:ext cx="7818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1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POST /api/live/session/start | POST /api/live/session/end | WS /ws/live/{session_id}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13232" y="3822191"/>
            <a:ext cx="2331720" cy="475488"/>
          </a:xfrm>
          <a:prstGeom prst="roundRect">
            <a:avLst/>
          </a:prstGeom>
          <a:solidFill>
            <a:srgbClr val="E5B94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Content/Record(콘텐츠/기록)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3218688" y="3822191"/>
            <a:ext cx="78181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1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GET /api/classes | GET /api/records | GET /api/profile/{uuid}</a:t>
            </a:r>
          </a:p>
        </p:txBody>
      </p:sp>
      <p:sp>
        <p:nvSpPr>
          <p:cNvPr id="15" name="bullets15"/>
          <p:cNvSpPr txBox="1"/>
          <p:nvPr/>
        </p:nvSpPr>
        <p:spPr>
          <a:xfrm>
            <a:off x="731520" y="4663440"/>
            <a:ext cx="10424160" cy="914400"/>
          </a:xfrm>
          <a:prstGeom prst="roundRect">
            <a:avLst/>
          </a:prstGeom>
          <a:solidFill>
            <a:srgbClr val="EEF3F4"/>
          </a:solidFill>
          <a:ln w="12700">
            <a:solidFill>
              <a:srgbClr val="DFE4E8"/>
            </a:solidFill>
          </a:ln>
        </p:spPr>
        <p:txBody>
          <a:bodyPr wrap="square" anchor="t" lIns="137160" rIns="91440" tIns="91440" bIns="91440">
            <a:normAutofit fontScale="80000" lnSpcReduction="25000"/>
          </a:bodyPr>
          <a:lstStyle/>
          <a:p>
            <a:pPr marL="228600" indent="-171450">
              <a:buChar char="•"/>
            </a:pPr>
            <a:r>
              <a:rPr lang="ko-KR" sz="14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response_model(응답 모델)은 live session(실시간 세션)과 food intake(식단 섭취)에서 Pydantic schema(파이단틱 스키마)로 명시됩니다.</a:t>
            </a:r>
          </a:p>
          <a:p>
            <a:pPr marL="228600" indent="-171450">
              <a:buChar char="•"/>
            </a:pPr>
            <a:r>
              <a:rPr lang="ko-KR" sz="14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class/record endpoint(클래스/기록 엔드포인트)는 현재 bool placeholder(불리언 자리표시자) response(응답)를 반환합니다.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15/29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Image Upload(이미지 업로드)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Food Intake Flow(식단 섭취 흐름)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text7"/>
          <p:cNvSpPr txBox="1"/>
          <p:nvPr/>
        </p:nvSpPr>
        <p:spPr>
          <a:xfrm>
            <a:off x="749808" y="1627632"/>
            <a:ext cx="2377440" cy="731520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5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Client(클라이언트)
meal image(식사 이미지)</a:t>
            </a:r>
          </a:p>
        </p:txBody>
      </p:sp>
      <p:sp>
        <p:nvSpPr>
          <p:cNvPr id="8" name="shape8"/>
          <p:cNvSpPr/>
          <p:nvPr/>
        </p:nvSpPr>
        <p:spPr>
          <a:xfrm>
            <a:off x="3273552" y="1901952"/>
            <a:ext cx="566928" cy="182880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9" name="text9"/>
          <p:cNvSpPr txBox="1"/>
          <p:nvPr/>
        </p:nvSpPr>
        <p:spPr>
          <a:xfrm>
            <a:off x="4005072" y="1627632"/>
            <a:ext cx="2423160" cy="731520"/>
          </a:xfrm>
          <a:prstGeom prst="roundRect">
            <a:avLst/>
          </a:prstGeom>
          <a:solidFill>
            <a:srgbClr val="2AA7A5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5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General server(일반 서버)
validation(검증)</a:t>
            </a:r>
          </a:p>
        </p:txBody>
      </p:sp>
      <p:sp>
        <p:nvSpPr>
          <p:cNvPr id="10" name="shape10"/>
          <p:cNvSpPr/>
          <p:nvPr/>
        </p:nvSpPr>
        <p:spPr>
          <a:xfrm>
            <a:off x="6565392" y="1901952"/>
            <a:ext cx="566928" cy="182880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1" name="text11"/>
          <p:cNvSpPr txBox="1"/>
          <p:nvPr/>
        </p:nvSpPr>
        <p:spPr>
          <a:xfrm>
            <a:off x="7296912" y="1627632"/>
            <a:ext cx="2011680" cy="731520"/>
          </a:xfrm>
          <a:prstGeom prst="roundRect">
            <a:avLst/>
          </a:prstGeom>
          <a:solidFill>
            <a:srgbClr val="F26957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5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AI server(인공지능 서버)
food analysis(음식 분석)</a:t>
            </a:r>
          </a:p>
        </p:txBody>
      </p:sp>
      <p:sp>
        <p:nvSpPr>
          <p:cNvPr id="12" name="shape12"/>
          <p:cNvSpPr/>
          <p:nvPr/>
        </p:nvSpPr>
        <p:spPr>
          <a:xfrm>
            <a:off x="9473184" y="1901952"/>
            <a:ext cx="566928" cy="182880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3" name="text13"/>
          <p:cNvSpPr txBox="1"/>
          <p:nvPr/>
        </p:nvSpPr>
        <p:spPr>
          <a:xfrm>
            <a:off x="10149840" y="1627632"/>
            <a:ext cx="1417320" cy="731520"/>
          </a:xfrm>
          <a:prstGeom prst="roundRect">
            <a:avLst/>
          </a:prstGeom>
          <a:solidFill>
            <a:srgbClr val="73B66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DailyFoodLog
table(테이블)</a:t>
            </a:r>
          </a:p>
        </p:txBody>
      </p:sp>
      <p:sp>
        <p:nvSpPr>
          <p:cNvPr id="14" name="shape14"/>
          <p:cNvSpPr/>
          <p:nvPr/>
        </p:nvSpPr>
        <p:spPr>
          <a:xfrm>
            <a:off x="749808" y="3154680"/>
            <a:ext cx="33375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5" name="shape15"/>
          <p:cNvSpPr/>
          <p:nvPr/>
        </p:nvSpPr>
        <p:spPr>
          <a:xfrm>
            <a:off x="749808" y="3154680"/>
            <a:ext cx="73152" cy="128016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16" name="text16"/>
          <p:cNvSpPr txBox="1"/>
          <p:nvPr/>
        </p:nvSpPr>
        <p:spPr>
          <a:xfrm>
            <a:off x="896112" y="3282696"/>
            <a:ext cx="304495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Validation(검증)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896112" y="3657600"/>
            <a:ext cx="3044952" cy="713231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SUPPORTED_IMAGE_EXTENSIONS set(집합)과 content_type(콘텐츠 타입)을 확인합니다.</a:t>
            </a:r>
          </a:p>
        </p:txBody>
      </p:sp>
      <p:sp>
        <p:nvSpPr>
          <p:cNvPr id="18" name="shape18"/>
          <p:cNvSpPr/>
          <p:nvPr/>
        </p:nvSpPr>
        <p:spPr>
          <a:xfrm>
            <a:off x="4315968" y="3154680"/>
            <a:ext cx="33375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9" name="shape19"/>
          <p:cNvSpPr/>
          <p:nvPr/>
        </p:nvSpPr>
        <p:spPr>
          <a:xfrm>
            <a:off x="4315968" y="3154680"/>
            <a:ext cx="73152" cy="1280160"/>
          </a:xfrm>
          <a:prstGeom prst="rect">
            <a:avLst/>
          </a:prstGeom>
          <a:solidFill>
            <a:srgbClr val="73B66B"/>
          </a:solidFill>
          <a:ln>
            <a:noFill/>
          </a:ln>
        </p:spPr>
      </p:sp>
      <p:sp>
        <p:nvSpPr>
          <p:cNvPr id="20" name="text20"/>
          <p:cNvSpPr txBox="1"/>
          <p:nvPr/>
        </p:nvSpPr>
        <p:spPr>
          <a:xfrm>
            <a:off x="4462272" y="3282696"/>
            <a:ext cx="304495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Storage(스토리지)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4462272" y="3657600"/>
            <a:ext cx="3044952" cy="713231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DailyFoodLog bucket(버킷)에 image bytes(이미지 바이트)를 upload(업로드)합니다.</a:t>
            </a:r>
          </a:p>
        </p:txBody>
      </p:sp>
      <p:sp>
        <p:nvSpPr>
          <p:cNvPr id="22" name="shape22"/>
          <p:cNvSpPr/>
          <p:nvPr/>
        </p:nvSpPr>
        <p:spPr>
          <a:xfrm>
            <a:off x="7882127" y="3154680"/>
            <a:ext cx="33375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23" name="shape23"/>
          <p:cNvSpPr/>
          <p:nvPr/>
        </p:nvSpPr>
        <p:spPr>
          <a:xfrm>
            <a:off x="7882127" y="3154680"/>
            <a:ext cx="73152" cy="128016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24" name="text24"/>
          <p:cNvSpPr txBox="1"/>
          <p:nvPr/>
        </p:nvSpPr>
        <p:spPr>
          <a:xfrm>
            <a:off x="8028431" y="3282696"/>
            <a:ext cx="304495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Fallback(대체)</a:t>
            </a:r>
          </a:p>
        </p:txBody>
      </p:sp>
      <p:sp>
        <p:nvSpPr>
          <p:cNvPr id="25" name="text25"/>
          <p:cNvSpPr txBox="1"/>
          <p:nvPr/>
        </p:nvSpPr>
        <p:spPr>
          <a:xfrm>
            <a:off x="8028431" y="3657600"/>
            <a:ext cx="3044952" cy="713231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AI server error(인공지능 서버 오류) 시 mock analysis response(모의 분석 응답)를 사용합니다.</a:t>
            </a:r>
          </a:p>
        </p:txBody>
      </p:sp>
      <p:sp>
        <p:nvSpPr>
          <p:cNvPr id="26" name="text26"/>
          <p:cNvSpPr txBox="1"/>
          <p:nvPr/>
        </p:nvSpPr>
        <p:spPr>
          <a:xfrm>
            <a:off x="749808" y="5102352"/>
            <a:ext cx="104241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c"/>
            <a:r>
              <a:rPr lang="ko-KR" sz="14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Output(출력): foods list(음식 목록), total_calories(총 칼로리), image_filename(이미지 파일명), source(출처), analyzed_at(분석 시각).</a:t>
            </a:r>
          </a:p>
        </p:txBody>
      </p:sp>
      <p:sp>
        <p:nvSpPr>
          <p:cNvPr id="27" name="text27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28" name="text28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16/29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Multipart(멀티파트) -&gt; AI(인공지능) -&gt; Table(테이블)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Food Payload Data Flow(식단 페이로드 데이터 흐름)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text7"/>
          <p:cNvSpPr txBox="1"/>
          <p:nvPr/>
        </p:nvSpPr>
        <p:spPr>
          <a:xfrm>
            <a:off x="658368" y="1417320"/>
            <a:ext cx="1965960" cy="493776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1 Request(요청)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658368" y="1993392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0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FormData(폼 데이터)
uuid
day(optional)(선택)
image: UploadFile</a:t>
            </a:r>
          </a:p>
        </p:txBody>
      </p:sp>
      <p:sp>
        <p:nvSpPr>
          <p:cNvPr id="9" name="shape9"/>
          <p:cNvSpPr/>
          <p:nvPr/>
        </p:nvSpPr>
        <p:spPr>
          <a:xfrm>
            <a:off x="2761488" y="2350008"/>
            <a:ext cx="310896" cy="128016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0" name="text10"/>
          <p:cNvSpPr txBox="1"/>
          <p:nvPr/>
        </p:nvSpPr>
        <p:spPr>
          <a:xfrm>
            <a:off x="3218688" y="1417320"/>
            <a:ext cx="1965960" cy="493776"/>
          </a:xfrm>
          <a:prstGeom prst="roundRect">
            <a:avLst/>
          </a:prstGeom>
          <a:solidFill>
            <a:srgbClr val="2AA7A5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2 Normalize(정규화)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3218688" y="1993392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0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validate image(이미지 검증)
resolve extension(확장자 확인)
build storage_path(저장 경로 생성)</a:t>
            </a:r>
          </a:p>
        </p:txBody>
      </p:sp>
      <p:sp>
        <p:nvSpPr>
          <p:cNvPr id="12" name="shape12"/>
          <p:cNvSpPr/>
          <p:nvPr/>
        </p:nvSpPr>
        <p:spPr>
          <a:xfrm>
            <a:off x="5321808" y="2350008"/>
            <a:ext cx="310896" cy="128016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3" name="text13"/>
          <p:cNvSpPr txBox="1"/>
          <p:nvPr/>
        </p:nvSpPr>
        <p:spPr>
          <a:xfrm>
            <a:off x="5779008" y="1417320"/>
            <a:ext cx="1965960" cy="493776"/>
          </a:xfrm>
          <a:prstGeom prst="roundRect">
            <a:avLst/>
          </a:prstGeom>
          <a:solidFill>
            <a:srgbClr val="F26957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3 AI request(AI 요청)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5779008" y="1993392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0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FoodAnalysisRequest
uuid
image_base64</a:t>
            </a:r>
          </a:p>
        </p:txBody>
      </p:sp>
      <p:sp>
        <p:nvSpPr>
          <p:cNvPr id="15" name="shape15"/>
          <p:cNvSpPr/>
          <p:nvPr/>
        </p:nvSpPr>
        <p:spPr>
          <a:xfrm>
            <a:off x="7882127" y="2350008"/>
            <a:ext cx="310896" cy="128016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6" name="text16"/>
          <p:cNvSpPr txBox="1"/>
          <p:nvPr/>
        </p:nvSpPr>
        <p:spPr>
          <a:xfrm>
            <a:off x="8339327" y="1417320"/>
            <a:ext cx="1965960" cy="493776"/>
          </a:xfrm>
          <a:prstGeom prst="roundRect">
            <a:avLst/>
          </a:prstGeom>
          <a:solidFill>
            <a:srgbClr val="73B66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4 AI response(AI 응답)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8339327" y="1993392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0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FoodIntakeAnalysisResponse
foods[]
total_calories
source</a:t>
            </a:r>
          </a:p>
        </p:txBody>
      </p:sp>
      <p:sp>
        <p:nvSpPr>
          <p:cNvPr id="18" name="shape18"/>
          <p:cNvSpPr/>
          <p:nvPr/>
        </p:nvSpPr>
        <p:spPr>
          <a:xfrm>
            <a:off x="10442448" y="2350008"/>
            <a:ext cx="310896" cy="128016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9" name="text19"/>
          <p:cNvSpPr txBox="1"/>
          <p:nvPr/>
        </p:nvSpPr>
        <p:spPr>
          <a:xfrm>
            <a:off x="10927080" y="1417320"/>
            <a:ext cx="658368" cy="1499616"/>
          </a:xfrm>
          <a:prstGeom prst="roundRect">
            <a:avLst/>
          </a:prstGeom>
          <a:solidFill>
            <a:srgbClr val="E5B94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9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DailyFoodLog
rows(행)</a:t>
            </a:r>
          </a:p>
        </p:txBody>
      </p:sp>
      <p:sp>
        <p:nvSpPr>
          <p:cNvPr id="20" name="shape20"/>
          <p:cNvSpPr/>
          <p:nvPr/>
        </p:nvSpPr>
        <p:spPr>
          <a:xfrm>
            <a:off x="749808" y="379476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21" name="shape21"/>
          <p:cNvSpPr/>
          <p:nvPr/>
        </p:nvSpPr>
        <p:spPr>
          <a:xfrm>
            <a:off x="749808" y="3794760"/>
            <a:ext cx="73152" cy="9601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22" name="text22"/>
          <p:cNvSpPr txBox="1"/>
          <p:nvPr/>
        </p:nvSpPr>
        <p:spPr>
          <a:xfrm>
            <a:off x="896112" y="3922776"/>
            <a:ext cx="299923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Storage row(스토리지 행)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896112" y="4297680"/>
            <a:ext cx="2999232" cy="39319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Bucket_Name=DailyFoodLog
File_Path=uuid/date_uuid.ext
image_url(public URL)(공개 URL)</a:t>
            </a:r>
          </a:p>
        </p:txBody>
      </p:sp>
      <p:sp>
        <p:nvSpPr>
          <p:cNvPr id="24" name="shape24"/>
          <p:cNvSpPr/>
          <p:nvPr/>
        </p:nvSpPr>
        <p:spPr>
          <a:xfrm>
            <a:off x="4315968" y="379476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25" name="shape25"/>
          <p:cNvSpPr/>
          <p:nvPr/>
        </p:nvSpPr>
        <p:spPr>
          <a:xfrm>
            <a:off x="4315968" y="3794760"/>
            <a:ext cx="73152" cy="960120"/>
          </a:xfrm>
          <a:prstGeom prst="rect">
            <a:avLst/>
          </a:prstGeom>
          <a:solidFill>
            <a:srgbClr val="73B66B"/>
          </a:solidFill>
          <a:ln>
            <a:noFill/>
          </a:ln>
        </p:spPr>
      </p:sp>
      <p:sp>
        <p:nvSpPr>
          <p:cNvPr id="26" name="text26"/>
          <p:cNvSpPr txBox="1"/>
          <p:nvPr/>
        </p:nvSpPr>
        <p:spPr>
          <a:xfrm>
            <a:off x="4462272" y="3922776"/>
            <a:ext cx="299923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Food row(음식 행)</a:t>
            </a:r>
          </a:p>
        </p:txBody>
      </p:sp>
      <p:sp>
        <p:nvSpPr>
          <p:cNvPr id="27" name="text27"/>
          <p:cNvSpPr txBox="1"/>
          <p:nvPr/>
        </p:nvSpPr>
        <p:spPr>
          <a:xfrm>
            <a:off x="4462272" y="4297680"/>
            <a:ext cx="2999232" cy="39319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UUID, Day, FoodName, Calories
one row per food item(음식 항목별 1행)</a:t>
            </a:r>
          </a:p>
        </p:txBody>
      </p:sp>
      <p:sp>
        <p:nvSpPr>
          <p:cNvPr id="28" name="shape28"/>
          <p:cNvSpPr/>
          <p:nvPr/>
        </p:nvSpPr>
        <p:spPr>
          <a:xfrm>
            <a:off x="7882127" y="3794760"/>
            <a:ext cx="3291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29" name="shape29"/>
          <p:cNvSpPr/>
          <p:nvPr/>
        </p:nvSpPr>
        <p:spPr>
          <a:xfrm>
            <a:off x="7882127" y="3794760"/>
            <a:ext cx="73152" cy="960120"/>
          </a:xfrm>
          <a:prstGeom prst="rect">
            <a:avLst/>
          </a:prstGeom>
          <a:solidFill>
            <a:srgbClr val="3B7DDD"/>
          </a:solidFill>
          <a:ln>
            <a:noFill/>
          </a:ln>
        </p:spPr>
      </p:sp>
      <p:sp>
        <p:nvSpPr>
          <p:cNvPr id="30" name="text30"/>
          <p:cNvSpPr txBox="1"/>
          <p:nvPr/>
        </p:nvSpPr>
        <p:spPr>
          <a:xfrm>
            <a:off x="8028431" y="3922776"/>
            <a:ext cx="299923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Read response(조회 응답)</a:t>
            </a:r>
          </a:p>
        </p:txBody>
      </p:sp>
      <p:sp>
        <p:nvSpPr>
          <p:cNvPr id="31" name="text31"/>
          <p:cNvSpPr txBox="1"/>
          <p:nvPr/>
        </p:nvSpPr>
        <p:spPr>
          <a:xfrm>
            <a:off x="8028431" y="4297680"/>
            <a:ext cx="2999232" cy="39319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GET /api/daily_food_intake/{uuid}/
Foods, TotalCalories, RecordCount</a:t>
            </a:r>
          </a:p>
        </p:txBody>
      </p:sp>
      <p:sp>
        <p:nvSpPr>
          <p:cNvPr id="32" name="text32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33" name="text33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17/29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Shared Contracts(공유 계약)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Schema &amp; State(스키마와 상태)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shape7"/>
          <p:cNvSpPr/>
          <p:nvPr/>
        </p:nvSpPr>
        <p:spPr>
          <a:xfrm>
            <a:off x="713232" y="1572768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8" name="shape8"/>
          <p:cNvSpPr/>
          <p:nvPr/>
        </p:nvSpPr>
        <p:spPr>
          <a:xfrm>
            <a:off x="713232" y="1572768"/>
            <a:ext cx="73152" cy="1417320"/>
          </a:xfrm>
          <a:prstGeom prst="rect">
            <a:avLst/>
          </a:prstGeom>
          <a:solidFill>
            <a:srgbClr val="3B7DDD"/>
          </a:solidFill>
          <a:ln>
            <a:noFill/>
          </a:ln>
        </p:spPr>
      </p:sp>
      <p:sp>
        <p:nvSpPr>
          <p:cNvPr id="9" name="text9"/>
          <p:cNvSpPr txBox="1"/>
          <p:nvPr/>
        </p:nvSpPr>
        <p:spPr>
          <a:xfrm>
            <a:off x="859536" y="1700784"/>
            <a:ext cx="313639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Pydantic schema(파이단틱 스키마)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859536" y="2075688"/>
            <a:ext cx="3136392" cy="85039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LiveSessionStartRequest, LiveFrameMessage, AiLiveAnalysisMessage, FoodIntakeAnalysisResponse 등이 request/response(요청/응답)를 고정합니다.</a:t>
            </a:r>
          </a:p>
        </p:txBody>
      </p:sp>
      <p:sp>
        <p:nvSpPr>
          <p:cNvPr id="11" name="shape11"/>
          <p:cNvSpPr/>
          <p:nvPr/>
        </p:nvSpPr>
        <p:spPr>
          <a:xfrm>
            <a:off x="4389120" y="1572768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2" name="shape12"/>
          <p:cNvSpPr/>
          <p:nvPr/>
        </p:nvSpPr>
        <p:spPr>
          <a:xfrm>
            <a:off x="4389120" y="1572768"/>
            <a:ext cx="73152" cy="14173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13" name="text13"/>
          <p:cNvSpPr txBox="1"/>
          <p:nvPr/>
        </p:nvSpPr>
        <p:spPr>
          <a:xfrm>
            <a:off x="4535424" y="1700784"/>
            <a:ext cx="313639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In-memory state(메모리 상태)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4535424" y="2075688"/>
            <a:ext cx="3136392" cy="85039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LIVE_SESSIONS dict(딕셔너리)와 ACTIVE_*_CONNECTIONS dict(딕셔너리)로 session(세션)과 socket(소켓)을 추적합니다.</a:t>
            </a:r>
          </a:p>
        </p:txBody>
      </p:sp>
      <p:sp>
        <p:nvSpPr>
          <p:cNvPr id="15" name="shape15"/>
          <p:cNvSpPr/>
          <p:nvPr/>
        </p:nvSpPr>
        <p:spPr>
          <a:xfrm>
            <a:off x="8065008" y="1572768"/>
            <a:ext cx="3063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6" name="shape16"/>
          <p:cNvSpPr/>
          <p:nvPr/>
        </p:nvSpPr>
        <p:spPr>
          <a:xfrm>
            <a:off x="8065008" y="1572768"/>
            <a:ext cx="73152" cy="1417320"/>
          </a:xfrm>
          <a:prstGeom prst="rect">
            <a:avLst/>
          </a:prstGeom>
          <a:solidFill>
            <a:srgbClr val="73B66B"/>
          </a:solidFill>
          <a:ln>
            <a:noFill/>
          </a:ln>
        </p:spPr>
      </p:sp>
      <p:sp>
        <p:nvSpPr>
          <p:cNvPr id="17" name="text17"/>
          <p:cNvSpPr txBox="1"/>
          <p:nvPr/>
        </p:nvSpPr>
        <p:spPr>
          <a:xfrm>
            <a:off x="8211312" y="1700784"/>
            <a:ext cx="277063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Supabase(슈파베이스)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8211312" y="2075688"/>
            <a:ext cx="2770632" cy="85039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SignUp/Profile/DailyFoodLog table(테이블)과 Profile_Photo/DailyFoodLog bucket(버킷)을 사용합니다.</a:t>
            </a:r>
          </a:p>
        </p:txBody>
      </p:sp>
      <p:sp>
        <p:nvSpPr>
          <p:cNvPr id="19" name="bullets19"/>
          <p:cNvSpPr txBox="1"/>
          <p:nvPr/>
        </p:nvSpPr>
        <p:spPr>
          <a:xfrm>
            <a:off x="749808" y="3657600"/>
            <a:ext cx="10378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t" lIns="137160" rIns="91440" tIns="91440" bIns="91440">
            <a:normAutofit fontScale="80000" lnSpcReduction="25000"/>
          </a:bodyPr>
          <a:lstStyle/>
          <a:p>
            <a:pPr marL="228600" indent="-171450">
              <a:buChar char="•"/>
            </a:pPr>
            <a:r>
              <a:rPr lang="ko-KR" sz="14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build_profile_payload(...) pulls joined profile data(프로필 데이터)와 public URL(공개 URL)을 조합합니다.</a:t>
            </a:r>
          </a:p>
          <a:p>
            <a:pPr marL="228600" indent="-171450">
              <a:buChar char="•"/>
            </a:pPr>
            <a:r>
              <a:rPr lang="ko-KR" sz="14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calculate_daily_target_kcal(...) calculates target burn calorie(목표 소모 칼로리)를 days_remaining(남은 일수) 기준으로 제한합니다.</a:t>
            </a:r>
          </a:p>
          <a:p>
            <a:pPr marL="228600" indent="-171450">
              <a:buChar char="•"/>
            </a:pPr>
            <a:r>
              <a:rPr lang="ko-KR" sz="14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insert_daily_food_log_rows(...) persists analyzed food item(분석된 음식 항목)을 row(행) 단위로 저장합니다.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18/29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Supabase(슈파베이스) Tables(테이블) &amp; Buckets(버킷)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Data Model(데이터 모델)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text7"/>
          <p:cNvSpPr txBox="1"/>
          <p:nvPr/>
        </p:nvSpPr>
        <p:spPr>
          <a:xfrm>
            <a:off x="749808" y="1572768"/>
            <a:ext cx="2423160" cy="640080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SignUp table(가입 테이블)
UUID, Name, Email, Age</a:t>
            </a:r>
          </a:p>
        </p:txBody>
      </p:sp>
      <p:sp>
        <p:nvSpPr>
          <p:cNvPr id="8" name="shape8"/>
          <p:cNvSpPr/>
          <p:nvPr/>
        </p:nvSpPr>
        <p:spPr>
          <a:xfrm>
            <a:off x="3291840" y="1810512"/>
            <a:ext cx="438912" cy="146304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9" name="text9"/>
          <p:cNvSpPr txBox="1"/>
          <p:nvPr/>
        </p:nvSpPr>
        <p:spPr>
          <a:xfrm>
            <a:off x="3886200" y="1572768"/>
            <a:ext cx="2423160" cy="640080"/>
          </a:xfrm>
          <a:prstGeom prst="roundRect">
            <a:avLst/>
          </a:prstGeom>
          <a:solidFill>
            <a:srgbClr val="2AA7A5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Profile table(프로필 테이블)
Height, Weight, Target</a:t>
            </a:r>
          </a:p>
        </p:txBody>
      </p:sp>
      <p:sp>
        <p:nvSpPr>
          <p:cNvPr id="10" name="shape10"/>
          <p:cNvSpPr/>
          <p:nvPr/>
        </p:nvSpPr>
        <p:spPr>
          <a:xfrm>
            <a:off x="6382512" y="1810512"/>
            <a:ext cx="438912" cy="146304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1" name="text11"/>
          <p:cNvSpPr txBox="1"/>
          <p:nvPr/>
        </p:nvSpPr>
        <p:spPr>
          <a:xfrm>
            <a:off x="6949440" y="1572768"/>
            <a:ext cx="2423160" cy="640080"/>
          </a:xfrm>
          <a:prstGeom prst="roundRect">
            <a:avLst/>
          </a:prstGeom>
          <a:solidFill>
            <a:srgbClr val="73B66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Profile_Photo bucket(프로필 사진 버킷)
FilePath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749808" y="2944368"/>
            <a:ext cx="2423160" cy="640080"/>
          </a:xfrm>
          <a:prstGeom prst="roundRect">
            <a:avLst/>
          </a:prstGeom>
          <a:solidFill>
            <a:srgbClr val="F26957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DailyFoodLog table(일일 식단 테이블)
FoodName, Calories, Day</a:t>
            </a:r>
          </a:p>
        </p:txBody>
      </p:sp>
      <p:sp>
        <p:nvSpPr>
          <p:cNvPr id="13" name="shape13"/>
          <p:cNvSpPr/>
          <p:nvPr/>
        </p:nvSpPr>
        <p:spPr>
          <a:xfrm>
            <a:off x="3291840" y="3182112"/>
            <a:ext cx="438912" cy="146304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4" name="text14"/>
          <p:cNvSpPr txBox="1"/>
          <p:nvPr/>
        </p:nvSpPr>
        <p:spPr>
          <a:xfrm>
            <a:off x="3886200" y="2944368"/>
            <a:ext cx="2423160" cy="640080"/>
          </a:xfrm>
          <a:prstGeom prst="roundRect">
            <a:avLst/>
          </a:prstGeom>
          <a:solidFill>
            <a:srgbClr val="E5B94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DailyFoodLog bucket(식단 이미지 버킷)
image file(이미지 파일)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6949440" y="2944368"/>
            <a:ext cx="2743200" cy="640080"/>
          </a:xfrm>
          <a:prstGeom prst="roundRect">
            <a:avLst/>
          </a:prstGeom>
          <a:solidFill>
            <a:srgbClr val="17212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Public URL(공개 URL)
build_storage_public_url(...)</a:t>
            </a:r>
          </a:p>
        </p:txBody>
      </p:sp>
      <p:sp>
        <p:nvSpPr>
          <p:cNvPr id="16" name="bullets16"/>
          <p:cNvSpPr txBox="1"/>
          <p:nvPr/>
        </p:nvSpPr>
        <p:spPr>
          <a:xfrm>
            <a:off x="768096" y="4617720"/>
            <a:ext cx="10058400" cy="914400"/>
          </a:xfrm>
          <a:prstGeom prst="roundRect">
            <a:avLst/>
          </a:prstGeom>
          <a:solidFill>
            <a:srgbClr val="EEF3F4"/>
          </a:solidFill>
          <a:ln w="12700">
            <a:solidFill>
              <a:srgbClr val="DFE4E8"/>
            </a:solidFill>
          </a:ln>
        </p:spPr>
        <p:txBody>
          <a:bodyPr wrap="square" anchor="t" lIns="137160" rIns="91440" tIns="91440" bIns="91440">
            <a:normAutofit fontScale="80000" lnSpcReduction="25000"/>
          </a:bodyPr>
          <a:lstStyle/>
          <a:p>
            <a:pPr marL="228600" indent="-171450">
              <a:buChar char="•"/>
            </a:pPr>
            <a:r>
              <a:rPr lang="ko-KR" sz="13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profile payload(프로필 페이로드)는 SignUp table(가입 테이블)과 Profile table(프로필 테이블)을 join(조인)한 뒤 bucket URL(버킷 주소)을 붙입니다.</a:t>
            </a:r>
          </a:p>
          <a:p>
            <a:pPr marL="228600" indent="-171450">
              <a:buChar char="•"/>
            </a:pPr>
            <a:r>
              <a:rPr lang="ko-KR" sz="13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food payload(식단 페이로드)는 image storage path(이미지 저장 경로)와 food row(음식 행)를 함께 저장해 history view(기록 화면)에 재사용할 수 있습니다.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19/29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SignUp(가입) + Profile(프로필) + Bucket(버킷)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Profile Data Flow(프로필 데이터 흐름)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text7"/>
          <p:cNvSpPr txBox="1"/>
          <p:nvPr/>
        </p:nvSpPr>
        <p:spPr>
          <a:xfrm>
            <a:off x="658368" y="1417320"/>
            <a:ext cx="1965960" cy="502920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1 Signup request(가입 요청)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658368" y="1993392"/>
            <a:ext cx="1965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0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UserSignUp
name/email/password/age
created_at</a:t>
            </a:r>
          </a:p>
        </p:txBody>
      </p:sp>
      <p:sp>
        <p:nvSpPr>
          <p:cNvPr id="9" name="shape9"/>
          <p:cNvSpPr/>
          <p:nvPr/>
        </p:nvSpPr>
        <p:spPr>
          <a:xfrm>
            <a:off x="2761488" y="2304288"/>
            <a:ext cx="310896" cy="128016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0" name="text10"/>
          <p:cNvSpPr txBox="1"/>
          <p:nvPr/>
        </p:nvSpPr>
        <p:spPr>
          <a:xfrm>
            <a:off x="3218688" y="1417320"/>
            <a:ext cx="1965960" cy="502920"/>
          </a:xfrm>
          <a:prstGeom prst="roundRect">
            <a:avLst/>
          </a:prstGeom>
          <a:solidFill>
            <a:srgbClr val="2AA7A5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2 SignUp table(가입 테이블)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3218688" y="1993392"/>
            <a:ext cx="1965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0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UUID generated(UUID 생성)
Name, Email, Password, Age
Created_at</a:t>
            </a:r>
          </a:p>
        </p:txBody>
      </p:sp>
      <p:sp>
        <p:nvSpPr>
          <p:cNvPr id="12" name="shape12"/>
          <p:cNvSpPr/>
          <p:nvPr/>
        </p:nvSpPr>
        <p:spPr>
          <a:xfrm>
            <a:off x="5321808" y="2304288"/>
            <a:ext cx="310896" cy="128016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3" name="text13"/>
          <p:cNvSpPr txBox="1"/>
          <p:nvPr/>
        </p:nvSpPr>
        <p:spPr>
          <a:xfrm>
            <a:off x="5779008" y="1417320"/>
            <a:ext cx="1965960" cy="502920"/>
          </a:xfrm>
          <a:prstGeom prst="roundRect">
            <a:avLst/>
          </a:prstGeom>
          <a:solidFill>
            <a:srgbClr val="F26957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3 Profile update(프로필 수정)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5779008" y="1993392"/>
            <a:ext cx="1965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0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UserProfileUpdate
height/weight/target
image UploadFile(이미지 파일)</a:t>
            </a:r>
          </a:p>
        </p:txBody>
      </p:sp>
      <p:sp>
        <p:nvSpPr>
          <p:cNvPr id="15" name="shape15"/>
          <p:cNvSpPr/>
          <p:nvPr/>
        </p:nvSpPr>
        <p:spPr>
          <a:xfrm>
            <a:off x="7882127" y="2304288"/>
            <a:ext cx="310896" cy="128016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6" name="text16"/>
          <p:cNvSpPr txBox="1"/>
          <p:nvPr/>
        </p:nvSpPr>
        <p:spPr>
          <a:xfrm>
            <a:off x="8339327" y="1417320"/>
            <a:ext cx="1965960" cy="502920"/>
          </a:xfrm>
          <a:prstGeom prst="roundRect">
            <a:avLst/>
          </a:prstGeom>
          <a:solidFill>
            <a:srgbClr val="73B66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4 Split update(분리 업데이트)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8339327" y="1993392"/>
            <a:ext cx="1965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9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SYNCED_SIGNUP_COLUMNS
SYNCED_PROFILE_COLUMNS
Bucket_Profile_Photo/FilePath</a:t>
            </a:r>
          </a:p>
        </p:txBody>
      </p:sp>
      <p:sp>
        <p:nvSpPr>
          <p:cNvPr id="18" name="shape18"/>
          <p:cNvSpPr/>
          <p:nvPr/>
        </p:nvSpPr>
        <p:spPr>
          <a:xfrm>
            <a:off x="749808" y="3657600"/>
            <a:ext cx="310896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9" name="shape19"/>
          <p:cNvSpPr/>
          <p:nvPr/>
        </p:nvSpPr>
        <p:spPr>
          <a:xfrm>
            <a:off x="749808" y="3657600"/>
            <a:ext cx="73152" cy="987552"/>
          </a:xfrm>
          <a:prstGeom prst="rect">
            <a:avLst/>
          </a:prstGeom>
          <a:solidFill>
            <a:srgbClr val="3B7DDD"/>
          </a:solidFill>
          <a:ln>
            <a:noFill/>
          </a:ln>
        </p:spPr>
      </p:sp>
      <p:sp>
        <p:nvSpPr>
          <p:cNvPr id="20" name="text20"/>
          <p:cNvSpPr txBox="1"/>
          <p:nvPr/>
        </p:nvSpPr>
        <p:spPr>
          <a:xfrm>
            <a:off x="896112" y="3785615"/>
            <a:ext cx="281635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Read profile(프로필 조회)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896112" y="4160520"/>
            <a:ext cx="2816352" cy="420624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get_profile_record(...) joins(조인) Profile table(프로필 테이블) + SignUp table(가입 테이블).</a:t>
            </a:r>
          </a:p>
        </p:txBody>
      </p:sp>
      <p:sp>
        <p:nvSpPr>
          <p:cNvPr id="22" name="shape22"/>
          <p:cNvSpPr/>
          <p:nvPr/>
        </p:nvSpPr>
        <p:spPr>
          <a:xfrm>
            <a:off x="4133087" y="3657600"/>
            <a:ext cx="310896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23" name="shape23"/>
          <p:cNvSpPr/>
          <p:nvPr/>
        </p:nvSpPr>
        <p:spPr>
          <a:xfrm>
            <a:off x="4133087" y="3657600"/>
            <a:ext cx="73152" cy="987552"/>
          </a:xfrm>
          <a:prstGeom prst="rect">
            <a:avLst/>
          </a:prstGeom>
          <a:solidFill>
            <a:srgbClr val="73B66B"/>
          </a:solidFill>
          <a:ln>
            <a:noFill/>
          </a:ln>
        </p:spPr>
      </p:sp>
      <p:sp>
        <p:nvSpPr>
          <p:cNvPr id="24" name="text24"/>
          <p:cNvSpPr txBox="1"/>
          <p:nvPr/>
        </p:nvSpPr>
        <p:spPr>
          <a:xfrm>
            <a:off x="4279392" y="3785615"/>
            <a:ext cx="281635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Build URL(URL 생성)</a:t>
            </a:r>
          </a:p>
        </p:txBody>
      </p:sp>
      <p:sp>
        <p:nvSpPr>
          <p:cNvPr id="25" name="text25"/>
          <p:cNvSpPr txBox="1"/>
          <p:nvPr/>
        </p:nvSpPr>
        <p:spPr>
          <a:xfrm>
            <a:off x="4279392" y="4160520"/>
            <a:ext cx="2816352" cy="420624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build_storage_public_url(...) turns bucket/path(버킷/경로) into profile_image_url(프로필 이미지 주소).</a:t>
            </a:r>
          </a:p>
        </p:txBody>
      </p:sp>
      <p:sp>
        <p:nvSpPr>
          <p:cNvPr id="26" name="shape26"/>
          <p:cNvSpPr/>
          <p:nvPr/>
        </p:nvSpPr>
        <p:spPr>
          <a:xfrm>
            <a:off x="7516368" y="3657600"/>
            <a:ext cx="310896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27" name="shape27"/>
          <p:cNvSpPr/>
          <p:nvPr/>
        </p:nvSpPr>
        <p:spPr>
          <a:xfrm>
            <a:off x="7516368" y="3657600"/>
            <a:ext cx="73152" cy="987552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28" name="text28"/>
          <p:cNvSpPr txBox="1"/>
          <p:nvPr/>
        </p:nvSpPr>
        <p:spPr>
          <a:xfrm>
            <a:off x="7662672" y="3785615"/>
            <a:ext cx="281635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Response shape(응답 형태)</a:t>
            </a:r>
          </a:p>
        </p:txBody>
      </p:sp>
      <p:sp>
        <p:nvSpPr>
          <p:cNvPr id="29" name="text29"/>
          <p:cNvSpPr txBox="1"/>
          <p:nvPr/>
        </p:nvSpPr>
        <p:spPr>
          <a:xfrm>
            <a:off x="7662672" y="4160520"/>
            <a:ext cx="2816352" cy="420624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build_profile_payload(...) returns uuid, name, email, age, height, weight, target fields(목표 필드).</a:t>
            </a:r>
          </a:p>
        </p:txBody>
      </p:sp>
      <p:sp>
        <p:nvSpPr>
          <p:cNvPr id="30" name="text30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31" name="text31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20/29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Calorie(칼로리) &amp; Session(세션)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Core Metrics(핵심 지표)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shape7"/>
          <p:cNvSpPr/>
          <p:nvPr/>
        </p:nvSpPr>
        <p:spPr>
          <a:xfrm>
            <a:off x="713232" y="1572768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8" name="shape8"/>
          <p:cNvSpPr/>
          <p:nvPr/>
        </p:nvSpPr>
        <p:spPr>
          <a:xfrm>
            <a:off x="713232" y="1572768"/>
            <a:ext cx="73152" cy="1325880"/>
          </a:xfrm>
          <a:prstGeom prst="rect">
            <a:avLst/>
          </a:prstGeom>
          <a:solidFill>
            <a:srgbClr val="73B66B"/>
          </a:solidFill>
          <a:ln>
            <a:noFill/>
          </a:ln>
        </p:spPr>
      </p:sp>
      <p:sp>
        <p:nvSpPr>
          <p:cNvPr id="9" name="text9"/>
          <p:cNvSpPr txBox="1"/>
          <p:nvPr/>
        </p:nvSpPr>
        <p:spPr>
          <a:xfrm>
            <a:off x="859536" y="1700784"/>
            <a:ext cx="304495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Daily target(일일 목표)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859536" y="2075688"/>
            <a:ext cx="3044952" cy="75895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current weight(현재 체중), target weight(목표 체중), target day(목표일), kcal_per_kg(kg당 칼로리)를 사용해 daily burn target(일일 소모 목표)을 계산합니다.</a:t>
            </a:r>
          </a:p>
        </p:txBody>
      </p:sp>
      <p:sp>
        <p:nvSpPr>
          <p:cNvPr id="11" name="shape11"/>
          <p:cNvSpPr/>
          <p:nvPr/>
        </p:nvSpPr>
        <p:spPr>
          <a:xfrm>
            <a:off x="4315968" y="1572768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2" name="shape12"/>
          <p:cNvSpPr/>
          <p:nvPr/>
        </p:nvSpPr>
        <p:spPr>
          <a:xfrm>
            <a:off x="4315968" y="1572768"/>
            <a:ext cx="73152" cy="132588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13" name="text13"/>
          <p:cNvSpPr txBox="1"/>
          <p:nvPr/>
        </p:nvSpPr>
        <p:spPr>
          <a:xfrm>
            <a:off x="4462272" y="1700784"/>
            <a:ext cx="304495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Food total(식단 합계)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4462272" y="2075688"/>
            <a:ext cx="3044952" cy="75895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DailyFoodLog table(테이블)의 Calories(칼로리)를 합산해 TotalCalories(총 칼로리)와 RecordCount(기록 수)를 반환합니다.</a:t>
            </a:r>
          </a:p>
        </p:txBody>
      </p:sp>
      <p:sp>
        <p:nvSpPr>
          <p:cNvPr id="15" name="shape15"/>
          <p:cNvSpPr/>
          <p:nvPr/>
        </p:nvSpPr>
        <p:spPr>
          <a:xfrm>
            <a:off x="7918704" y="1572768"/>
            <a:ext cx="30632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6" name="shape16"/>
          <p:cNvSpPr/>
          <p:nvPr/>
        </p:nvSpPr>
        <p:spPr>
          <a:xfrm>
            <a:off x="7918704" y="1572768"/>
            <a:ext cx="73152" cy="132588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17" name="text17"/>
          <p:cNvSpPr txBox="1"/>
          <p:nvPr/>
        </p:nvSpPr>
        <p:spPr>
          <a:xfrm>
            <a:off x="8065008" y="1700784"/>
            <a:ext cx="277063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Live session(실시간 세션)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8065008" y="2075688"/>
            <a:ext cx="2770632" cy="75895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frame gap(프레임 간격), elapsed seconds(경과 초), total frames(총 프레임), total calories(총 칼로리)를 누적합니다.</a:t>
            </a:r>
          </a:p>
        </p:txBody>
      </p:sp>
      <p:sp>
        <p:nvSpPr>
          <p:cNvPr id="19" name="bullets19"/>
          <p:cNvSpPr txBox="1"/>
          <p:nvPr/>
        </p:nvSpPr>
        <p:spPr>
          <a:xfrm>
            <a:off x="749808" y="3703320"/>
            <a:ext cx="10241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t" lIns="137160" rIns="91440" tIns="91440" bIns="91440">
            <a:normAutofit fontScale="80000" lnSpcReduction="25000"/>
          </a:bodyPr>
          <a:lstStyle/>
          <a:p>
            <a:pPr marL="228600" indent="-171450">
              <a:buChar char="•"/>
            </a:pPr>
            <a:r>
              <a:rPr lang="ko-KR" sz="14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movement_score(움직임 점수)와 calories_burned(소모 칼로리)는 AI server response(인공지능 서버 응답)에 의존합니다.</a:t>
            </a:r>
          </a:p>
          <a:p>
            <a:pPr marL="228600" indent="-171450">
              <a:buChar char="•"/>
            </a:pPr>
            <a:r>
              <a:rPr lang="ko-KR" sz="14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현재 session store(세션 저장소)는 memory dict(메모리 딕셔너리)이므로 production(운영)에서는 Redis(레디스) 같은 shared store(공유 저장소)가 후보입니다.</a:t>
            </a:r>
          </a:p>
          <a:p>
            <a:pPr marL="228600" indent="-171450">
              <a:buChar char="•"/>
            </a:pPr>
            <a:r>
              <a:rPr lang="ko-KR" sz="14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maximum_daily_kcal(일일 최대 칼로리) cap(상한)이 있어 비현실적인 목표값을 제한합니다.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21/29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Prototype Evidence(프로토타입 근거)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AI Analysis Assets(인공지능 분석 자산)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pic>
        <p:nvPicPr>
          <p:cNvPr id="7" name="tes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536192"/>
            <a:ext cx="2926080" cy="2926080"/>
          </a:xfrm>
          <a:prstGeom prst="roundRect">
            <a:avLst/>
          </a:prstGeom>
          <a:ln w="12700">
            <a:solidFill>
              <a:srgbClr val="32404B"/>
            </a:solidFill>
          </a:ln>
        </p:spPr>
      </p:pic>
      <p:sp>
        <p:nvSpPr>
          <p:cNvPr id="8" name="shape8"/>
          <p:cNvSpPr/>
          <p:nvPr/>
        </p:nvSpPr>
        <p:spPr>
          <a:xfrm>
            <a:off x="3977639" y="1536192"/>
            <a:ext cx="329184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9" name="shape9"/>
          <p:cNvSpPr/>
          <p:nvPr/>
        </p:nvSpPr>
        <p:spPr>
          <a:xfrm>
            <a:off x="3977639" y="1536192"/>
            <a:ext cx="73152" cy="1170432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10" name="text10"/>
          <p:cNvSpPr txBox="1"/>
          <p:nvPr/>
        </p:nvSpPr>
        <p:spPr>
          <a:xfrm>
            <a:off x="4123944" y="1664207"/>
            <a:ext cx="299923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kcal_cal.py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4123944" y="2039112"/>
            <a:ext cx="2999232" cy="603504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OpenCV camera frame(오픈CV 카메라 프레임)과 MediaPipe pose landmarks(미디어파이프 포즈 랜드마크)로 movement score(움직임 점수)를 계산합니다.</a:t>
            </a:r>
          </a:p>
        </p:txBody>
      </p:sp>
      <p:sp>
        <p:nvSpPr>
          <p:cNvPr id="12" name="shape12"/>
          <p:cNvSpPr/>
          <p:nvPr/>
        </p:nvSpPr>
        <p:spPr>
          <a:xfrm>
            <a:off x="7543800" y="1536192"/>
            <a:ext cx="329184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3" name="shape13"/>
          <p:cNvSpPr/>
          <p:nvPr/>
        </p:nvSpPr>
        <p:spPr>
          <a:xfrm>
            <a:off x="7543800" y="1536192"/>
            <a:ext cx="73152" cy="1170432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14" name="text14"/>
          <p:cNvSpPr txBox="1"/>
          <p:nvPr/>
        </p:nvSpPr>
        <p:spPr>
          <a:xfrm>
            <a:off x="7690104" y="1664207"/>
            <a:ext cx="299923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rocognize_gif.py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7690104" y="2039112"/>
            <a:ext cx="2999232" cy="603504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test.gif file(파일)을 frame(프레임)으로 읽고 pose detection visualization(포즈 감지 시각화)을 보여줍니다.</a:t>
            </a:r>
          </a:p>
        </p:txBody>
      </p:sp>
      <p:sp>
        <p:nvSpPr>
          <p:cNvPr id="16" name="shape16"/>
          <p:cNvSpPr/>
          <p:nvPr/>
        </p:nvSpPr>
        <p:spPr>
          <a:xfrm>
            <a:off x="3977639" y="3054096"/>
            <a:ext cx="329184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7" name="shape17"/>
          <p:cNvSpPr/>
          <p:nvPr/>
        </p:nvSpPr>
        <p:spPr>
          <a:xfrm>
            <a:off x="3977639" y="3054096"/>
            <a:ext cx="73152" cy="1170432"/>
          </a:xfrm>
          <a:prstGeom prst="rect">
            <a:avLst/>
          </a:prstGeom>
          <a:solidFill>
            <a:srgbClr val="3B7DDD"/>
          </a:solidFill>
          <a:ln>
            <a:noFill/>
          </a:ln>
        </p:spPr>
      </p:sp>
      <p:sp>
        <p:nvSpPr>
          <p:cNvPr id="18" name="text18"/>
          <p:cNvSpPr txBox="1"/>
          <p:nvPr/>
        </p:nvSpPr>
        <p:spPr>
          <a:xfrm>
            <a:off x="4123944" y="3182112"/>
            <a:ext cx="299923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live_session_client_test.py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4123944" y="3557015"/>
            <a:ext cx="2999232" cy="603504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HTTP request(HTTP 요청)로 session(세션)을 열고 WebSocket(웹소켓)으로 frame stream(프레임 스트림)을 보내는 local test client(로컬 테스트 클라이언트)입니다.</a:t>
            </a:r>
          </a:p>
        </p:txBody>
      </p:sp>
      <p:sp>
        <p:nvSpPr>
          <p:cNvPr id="20" name="shape20"/>
          <p:cNvSpPr/>
          <p:nvPr/>
        </p:nvSpPr>
        <p:spPr>
          <a:xfrm>
            <a:off x="7543800" y="3054096"/>
            <a:ext cx="329184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21" name="shape21"/>
          <p:cNvSpPr/>
          <p:nvPr/>
        </p:nvSpPr>
        <p:spPr>
          <a:xfrm>
            <a:off x="7543800" y="3054096"/>
            <a:ext cx="73152" cy="1170432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22" name="text22"/>
          <p:cNvSpPr txBox="1"/>
          <p:nvPr/>
        </p:nvSpPr>
        <p:spPr>
          <a:xfrm>
            <a:off x="7690104" y="3182112"/>
            <a:ext cx="299923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AI bridge(인공지능 브리지)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7690104" y="3557015"/>
            <a:ext cx="2999232" cy="603504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dance analysis(댄스 분석)는 persistent connection(지속 연결), food analysis(음식 분석)는 per-request connection(요청별 연결) 구조입니다.</a:t>
            </a:r>
          </a:p>
        </p:txBody>
      </p:sp>
      <p:sp>
        <p:nvSpPr>
          <p:cNvPr id="24" name="text24"/>
          <p:cNvSpPr txBox="1"/>
          <p:nvPr/>
        </p:nvSpPr>
        <p:spPr>
          <a:xfrm>
            <a:off x="822960" y="5074920"/>
            <a:ext cx="10149840" cy="566928"/>
          </a:xfrm>
          <a:prstGeom prst="roundRect">
            <a:avLst/>
          </a:prstGeom>
          <a:solidFill>
            <a:srgbClr val="F7EBC3"/>
          </a:solidFill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c"/>
            <a:r>
              <a:rPr lang="ko-KR" sz="14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Prototype code(프로토타입 코드)는 model asset file(모델 자산 파일) pose_landmarker_lite.task를 기대합니다.</a:t>
            </a:r>
          </a:p>
        </p:txBody>
      </p:sp>
      <p:sp>
        <p:nvSpPr>
          <p:cNvPr id="25" name="text25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26" name="text26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22/29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Validation(검증), Error(오류), Cleanup(정리)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Quality Controls(품질 제어)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shape7"/>
          <p:cNvSpPr/>
          <p:nvPr/>
        </p:nvSpPr>
        <p:spPr>
          <a:xfrm>
            <a:off x="713232" y="1572768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8" name="shape8"/>
          <p:cNvSpPr/>
          <p:nvPr/>
        </p:nvSpPr>
        <p:spPr>
          <a:xfrm>
            <a:off x="713232" y="1572768"/>
            <a:ext cx="73152" cy="1234440"/>
          </a:xfrm>
          <a:prstGeom prst="rect">
            <a:avLst/>
          </a:prstGeom>
          <a:solidFill>
            <a:srgbClr val="3B7DDD"/>
          </a:solidFill>
          <a:ln>
            <a:noFill/>
          </a:ln>
        </p:spPr>
      </p:sp>
      <p:sp>
        <p:nvSpPr>
          <p:cNvPr id="9" name="text9"/>
          <p:cNvSpPr txBox="1"/>
          <p:nvPr/>
        </p:nvSpPr>
        <p:spPr>
          <a:xfrm>
            <a:off x="859536" y="1700784"/>
            <a:ext cx="295351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Input validation(입력 검증)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859536" y="2075688"/>
            <a:ext cx="2953512" cy="66751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Pydantic schema(파이단틱 스키마), image extension(이미지 확장자), content_type(콘텐츠 타입), session status(세션 상태).</a:t>
            </a:r>
          </a:p>
        </p:txBody>
      </p:sp>
      <p:sp>
        <p:nvSpPr>
          <p:cNvPr id="11" name="shape11"/>
          <p:cNvSpPr/>
          <p:nvPr/>
        </p:nvSpPr>
        <p:spPr>
          <a:xfrm>
            <a:off x="4224528" y="1572768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2" name="shape12"/>
          <p:cNvSpPr/>
          <p:nvPr/>
        </p:nvSpPr>
        <p:spPr>
          <a:xfrm>
            <a:off x="4224528" y="1572768"/>
            <a:ext cx="73152" cy="123444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13" name="text13"/>
          <p:cNvSpPr txBox="1"/>
          <p:nvPr/>
        </p:nvSpPr>
        <p:spPr>
          <a:xfrm>
            <a:off x="4370832" y="1700784"/>
            <a:ext cx="295351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Upstream error(상위 오류)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4370832" y="2075688"/>
            <a:ext cx="2953512" cy="66751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Supabase error(슈파베이스 오류)를 HTTP 503/500 response(응답)로 변환하고 AI error(AI 오류)는 HTTP 502 response(응답)로 변환합니다.</a:t>
            </a:r>
          </a:p>
        </p:txBody>
      </p:sp>
      <p:sp>
        <p:nvSpPr>
          <p:cNvPr id="15" name="shape15"/>
          <p:cNvSpPr/>
          <p:nvPr/>
        </p:nvSpPr>
        <p:spPr>
          <a:xfrm>
            <a:off x="7735824" y="1572768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</p:sp>
      <p:sp>
        <p:nvSpPr>
          <p:cNvPr id="16" name="shape16"/>
          <p:cNvSpPr/>
          <p:nvPr/>
        </p:nvSpPr>
        <p:spPr>
          <a:xfrm>
            <a:off x="7735824" y="1572768"/>
            <a:ext cx="73152" cy="1234440"/>
          </a:xfrm>
          <a:prstGeom prst="rect">
            <a:avLst/>
          </a:prstGeom>
          <a:solidFill>
            <a:srgbClr val="73B66B"/>
          </a:solidFill>
          <a:ln>
            <a:noFill/>
          </a:ln>
        </p:spPr>
      </p:sp>
      <p:sp>
        <p:nvSpPr>
          <p:cNvPr id="17" name="text17"/>
          <p:cNvSpPr txBox="1"/>
          <p:nvPr/>
        </p:nvSpPr>
        <p:spPr>
          <a:xfrm>
            <a:off x="7882128" y="1700784"/>
            <a:ext cx="2953512" cy="25603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Socket cleanup(소켓 정리)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7882128" y="2075688"/>
            <a:ext cx="2953512" cy="66751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session end(세션 종료), WebSocketDisconnect(웹소켓 연결 해제), AI close(AI 종료) path(경로)를 둡니다.</a:t>
            </a:r>
          </a:p>
        </p:txBody>
      </p:sp>
      <p:sp>
        <p:nvSpPr>
          <p:cNvPr id="19" name="bullets19"/>
          <p:cNvSpPr txBox="1"/>
          <p:nvPr/>
        </p:nvSpPr>
        <p:spPr>
          <a:xfrm>
            <a:off x="749808" y="3520440"/>
            <a:ext cx="10241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t" lIns="137160" rIns="91440" tIns="91440" bIns="91440">
            <a:normAutofit fontScale="80000" lnSpcReduction="25000"/>
          </a:bodyPr>
          <a:lstStyle/>
          <a:p>
            <a:pPr marL="228600" indent="-171450">
              <a:buChar char="•"/>
            </a:pPr>
            <a:r>
              <a:rPr lang="ko-KR" sz="14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request_lock(요청 잠금)은 per-session(세션별) AI message exchange(AI 메시지 교환)를 직렬화합니다.</a:t>
            </a:r>
          </a:p>
          <a:p>
            <a:pPr marL="228600" indent="-171450">
              <a:buChar char="•"/>
            </a:pPr>
            <a:r>
              <a:rPr lang="ko-KR" sz="14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food analysis fallback(식단 분석 대체)은 AI server unavailable(인공지능 서버 사용 불가) 상황에서도 user flow(사용자 흐름)를 유지합니다.</a:t>
            </a:r>
          </a:p>
          <a:p>
            <a:pPr marL="228600" indent="-171450">
              <a:buChar char="•"/>
            </a:pPr>
            <a:r>
              <a:rPr lang="ko-KR" sz="14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private network access header(사설 네트워크 접근 헤더)를 처리해 local device test(로컬 기기 테스트)에 대응합니다.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23/29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What To Verify(검증할 것)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Test Plan(테스트 계획)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text7"/>
          <p:cNvSpPr txBox="1"/>
          <p:nvPr/>
        </p:nvSpPr>
        <p:spPr>
          <a:xfrm>
            <a:off x="749808" y="1481328"/>
            <a:ext cx="3017520" cy="438912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API smoke test(API 스모크 테스트)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3977639" y="1481328"/>
            <a:ext cx="68122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signup/profile/home/food endpoint(엔드포인트) response schema(응답 스키마) 확인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749808" y="2194560"/>
            <a:ext cx="3017520" cy="438912"/>
          </a:xfrm>
          <a:prstGeom prst="roundRect">
            <a:avLst/>
          </a:prstGeom>
          <a:solidFill>
            <a:srgbClr val="F26957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WebSocket integration(웹소켓 통합)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3977639" y="2194560"/>
            <a:ext cx="68122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start session(세션 시작) -&gt; connect(연결) -&gt; frame(프레임) -&gt; result(결과) -&gt; end(종료)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49808" y="2907792"/>
            <a:ext cx="3017520" cy="438912"/>
          </a:xfrm>
          <a:prstGeom prst="roundRect">
            <a:avLst/>
          </a:prstGeom>
          <a:solidFill>
            <a:srgbClr val="73B66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Supabase path(슈파베이스 경로)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3977639" y="2907792"/>
            <a:ext cx="68122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table insert(테이블 삽입), storage upload(스토리지 업로드), public URL(공개 URL)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49808" y="3621024"/>
            <a:ext cx="3017520" cy="438912"/>
          </a:xfrm>
          <a:prstGeom prst="roundRect">
            <a:avLst/>
          </a:prstGeom>
          <a:solidFill>
            <a:srgbClr val="E5B94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AI fallback(AI 대체)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3977639" y="3621024"/>
            <a:ext cx="68122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food AI timeout(음식 AI 시간 제한), invalid payload(잘못된 페이로드), mock response(모의 응답)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749808" y="4334256"/>
            <a:ext cx="3017520" cy="438912"/>
          </a:xfrm>
          <a:prstGeom prst="roundRect">
            <a:avLst/>
          </a:prstGeom>
          <a:solidFill>
            <a:srgbClr val="2AA7A5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Presentation QA(발표 자료 QA)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3977639" y="4334256"/>
            <a:ext cx="68122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200" b="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PPTX XML parse(PPTX XML 파싱), slide count(슬라이드 수), media embed(미디어 포함), text fit(텍스트 맞춤)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786384" y="5376672"/>
            <a:ext cx="9966960" cy="347472"/>
          </a:xfrm>
          <a:prstGeom prst="roundRect">
            <a:avLst/>
          </a:prstGeom>
          <a:solidFill>
            <a:srgbClr val="EEF3F4"/>
          </a:solidFill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Recommended(추천): protocol fixture(프로토콜 고정 데이터)를 먼저 만들면 client/server/AI server(클라이언트/서버/인공지능 서버) 계약이 흔들리지 않습니다.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24/29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Current Findings(현재 확인)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Risks &amp; Gaps(리스크와 공백)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bullets7"/>
          <p:cNvSpPr txBox="1"/>
          <p:nvPr/>
        </p:nvSpPr>
        <p:spPr>
          <a:xfrm>
            <a:off x="749808" y="1591056"/>
            <a:ext cx="1042416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t" lIns="137160" rIns="91440" tIns="91440" bIns="91440">
            <a:normAutofit fontScale="80000" lnSpcReduction="25000"/>
          </a:bodyPr>
          <a:lstStyle/>
          <a:p>
            <a:pPr marL="228600" indent="-171450">
              <a:buChar char="•"/>
            </a:pPr>
            <a:r>
              <a:rPr lang="ko-KR" sz="15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README(리드미)가 `servers/ai_server/` path(경로)를 설명하지만 current repository(현재 저장소)에는 해당 folder(폴더)가 보이지 않습니다.</a:t>
            </a:r>
          </a:p>
          <a:p>
            <a:pPr marL="228600" indent="-171450">
              <a:buChar char="•"/>
            </a:pPr>
            <a:r>
              <a:rPr lang="ko-KR" sz="15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build_ai_dance_ws_url(...) uses configured AI_DANCE_WS_PATH(인공지능 댄스 웹소켓 경로)를 붙이지 않아 AI WebSocket URL(AI 웹소켓 URL) 형식 점검이 필요합니다.</a:t>
            </a:r>
          </a:p>
          <a:p>
            <a:pPr marL="228600" indent="-171450">
              <a:buChar char="•"/>
            </a:pPr>
            <a:r>
              <a:rPr lang="ko-KR" sz="15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live_session_client_test.py payload(페이로드)는 `type=frame` + `image_base64`이고 route(라우트)는 `type=frame_binary` + binary message(바이너리 메시지)를 기대해 protocol mismatch(프로토콜 불일치)가 있습니다.</a:t>
            </a:r>
          </a:p>
          <a:p>
            <a:pPr marL="228600" indent="-171450">
              <a:buChar char="•"/>
            </a:pPr>
            <a:r>
              <a:rPr lang="ko-KR" sz="15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session state(세션 상태)가 memory(메모리)에 있어 multi-process(멀티 프로세스) 또는 restart(재시작) 상황에서 persistence(영속성)가 없습니다.</a:t>
            </a:r>
          </a:p>
          <a:p>
            <a:pPr marL="228600" indent="-171450">
              <a:buChar char="•"/>
            </a:pPr>
            <a:r>
              <a:rPr lang="ko-KR" sz="15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security(보안), auth(인증), rate limit(요청 제한), CORS policy(CORS 정책)는 production(운영) 기준으로 재정의가 필요합니다.</a:t>
            </a:r>
          </a:p>
          <a:p>
            <a:pPr marL="228600" indent="-171450">
              <a:buChar char="•"/>
            </a:pPr>
            <a:r>
              <a:rPr lang="ko-KR" sz="15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일부 Korean comment(한국어 주석)가 mojibake(문자 깨짐) 상태라 maintenance(유지보수) 가독성이 떨어집니다.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25/29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Fix Order(수정 순서)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Improvement Plan(개선 계획)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text7"/>
          <p:cNvSpPr txBox="1"/>
          <p:nvPr/>
        </p:nvSpPr>
        <p:spPr>
          <a:xfrm>
            <a:off x="640080" y="1627632"/>
            <a:ext cx="2606040" cy="384048"/>
          </a:xfrm>
          <a:prstGeom prst="roundRect">
            <a:avLst/>
          </a:prstGeom>
          <a:solidFill>
            <a:srgbClr val="F26957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Phase 1(1단계)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640080" y="2148840"/>
            <a:ext cx="2606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Protocol alignment(프로토콜 정렬)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640080" y="2697480"/>
            <a:ext cx="26060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1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`frame_binary` vs `frame` mismatch(불일치) 제거
schema fixture(스키마 고정 데이터) 작성</a:t>
            </a:r>
          </a:p>
        </p:txBody>
      </p:sp>
      <p:sp>
        <p:nvSpPr>
          <p:cNvPr id="10" name="shape10"/>
          <p:cNvSpPr/>
          <p:nvPr/>
        </p:nvSpPr>
        <p:spPr>
          <a:xfrm>
            <a:off x="3328415" y="2834640"/>
            <a:ext cx="310896" cy="146304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1" name="text11"/>
          <p:cNvSpPr txBox="1"/>
          <p:nvPr/>
        </p:nvSpPr>
        <p:spPr>
          <a:xfrm>
            <a:off x="3429000" y="1627632"/>
            <a:ext cx="2606040" cy="384048"/>
          </a:xfrm>
          <a:prstGeom prst="roundRect">
            <a:avLst/>
          </a:prstGeom>
          <a:solidFill>
            <a:srgbClr val="2AA7A5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Phase 2(2단계)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3429000" y="2148840"/>
            <a:ext cx="2606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AI path cleanup(AI 경로 정리)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3429000" y="2697480"/>
            <a:ext cx="26060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1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AI_DANCE_WS_PATH(인공지능 댄스 경로) 사용
AI_HOST value(AI 호스트 값) 점검</a:t>
            </a:r>
          </a:p>
        </p:txBody>
      </p:sp>
      <p:sp>
        <p:nvSpPr>
          <p:cNvPr id="14" name="shape14"/>
          <p:cNvSpPr/>
          <p:nvPr/>
        </p:nvSpPr>
        <p:spPr>
          <a:xfrm>
            <a:off x="6117336" y="2834640"/>
            <a:ext cx="310896" cy="146304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5" name="text15"/>
          <p:cNvSpPr txBox="1"/>
          <p:nvPr/>
        </p:nvSpPr>
        <p:spPr>
          <a:xfrm>
            <a:off x="6217920" y="1627632"/>
            <a:ext cx="2606040" cy="384048"/>
          </a:xfrm>
          <a:prstGeom prst="roundRect">
            <a:avLst/>
          </a:prstGeom>
          <a:solidFill>
            <a:srgbClr val="73B66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Phase 3(3단계)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6217920" y="2148840"/>
            <a:ext cx="2606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Persistence(영속성)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6217920" y="2697480"/>
            <a:ext cx="26060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1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LIVE_SESSIONS dict(세션 딕셔너리) 대체
Redis(레디스) 또는 database state(데이터베이스 상태)</a:t>
            </a:r>
          </a:p>
        </p:txBody>
      </p:sp>
      <p:sp>
        <p:nvSpPr>
          <p:cNvPr id="18" name="shape18"/>
          <p:cNvSpPr/>
          <p:nvPr/>
        </p:nvSpPr>
        <p:spPr>
          <a:xfrm>
            <a:off x="8906256" y="2834640"/>
            <a:ext cx="310896" cy="146304"/>
          </a:xfrm>
          <a:prstGeom prst="rightArrow">
            <a:avLst/>
          </a:prstGeom>
          <a:solidFill>
            <a:srgbClr val="32404B"/>
          </a:solidFill>
          <a:ln>
            <a:noFill/>
          </a:ln>
        </p:spPr>
      </p:sp>
      <p:sp>
        <p:nvSpPr>
          <p:cNvPr id="19" name="text19"/>
          <p:cNvSpPr txBox="1"/>
          <p:nvPr/>
        </p:nvSpPr>
        <p:spPr>
          <a:xfrm>
            <a:off x="9006840" y="1627632"/>
            <a:ext cx="2606040" cy="384048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Phase 4(4단계)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9006840" y="2148840"/>
            <a:ext cx="2606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3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Production guardrail(운영 안전장치)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9006840" y="2697480"/>
            <a:ext cx="26060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1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auth(인증), rate limit(요청 제한), structured log(구조화 로그), health check(헬스 체크)</a:t>
            </a:r>
          </a:p>
        </p:txBody>
      </p:sp>
      <p:sp>
        <p:nvSpPr>
          <p:cNvPr id="22" name="bullets22"/>
          <p:cNvSpPr txBox="1"/>
          <p:nvPr/>
        </p:nvSpPr>
        <p:spPr>
          <a:xfrm>
            <a:off x="768096" y="4754880"/>
            <a:ext cx="10149840" cy="731520"/>
          </a:xfrm>
          <a:prstGeom prst="roundRect">
            <a:avLst/>
          </a:prstGeom>
          <a:solidFill>
            <a:srgbClr val="EEF3F4"/>
          </a:solidFill>
          <a:ln w="12700">
            <a:solidFill>
              <a:srgbClr val="DFE4E8"/>
            </a:solidFill>
          </a:ln>
        </p:spPr>
        <p:txBody>
          <a:bodyPr wrap="square" anchor="t" lIns="137160" rIns="91440" tIns="91440" bIns="91440">
            <a:normAutofit fontScale="80000" lnSpcReduction="25000"/>
          </a:bodyPr>
          <a:lstStyle/>
          <a:p>
            <a:pPr marL="228600" indent="-171450">
              <a:buChar char="•"/>
            </a:pPr>
            <a:r>
              <a:rPr lang="ko-KR" sz="13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이 순서는 demo reliability(데모 신뢰성)를 먼저 올리고, 이후 production readiness(운영 준비도)를 확장하는 흐름입니다.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24" name="text24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26/29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Recommended Next Steps(추천 다음 단계)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Roadmap(로드맵)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text7"/>
          <p:cNvSpPr txBox="1"/>
          <p:nvPr/>
        </p:nvSpPr>
        <p:spPr>
          <a:xfrm>
            <a:off x="786384" y="1618488"/>
            <a:ext cx="457200" cy="457200"/>
          </a:xfrm>
          <a:prstGeom prst="roundRect">
            <a:avLst/>
          </a:prstGeom>
          <a:solidFill>
            <a:srgbClr val="F26957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7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1444752" y="1554480"/>
            <a:ext cx="2880360" cy="566928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6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MVP hardening(MVP 안정화)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4480560" y="1554480"/>
            <a:ext cx="63550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4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protocol(프로토콜) 통일, AI URL(AI 주소) 수정, README(리드미) 최신화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786384" y="2578608"/>
            <a:ext cx="457200" cy="457200"/>
          </a:xfrm>
          <a:prstGeom prst="roundRect">
            <a:avLst/>
          </a:prstGeom>
          <a:solidFill>
            <a:srgbClr val="3B7DDD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7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444752" y="2514600"/>
            <a:ext cx="2880360" cy="566928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6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Data contract(데이터 계약)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4480560" y="2514600"/>
            <a:ext cx="63550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4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schema test(스키마 테스트), API examples(API 예시), error format(오류 형식)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86384" y="3538727"/>
            <a:ext cx="457200" cy="457200"/>
          </a:xfrm>
          <a:prstGeom prst="roundRect">
            <a:avLst/>
          </a:prstGeom>
          <a:solidFill>
            <a:srgbClr val="2AA7A5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7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3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1444752" y="3474720"/>
            <a:ext cx="2880360" cy="566928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6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AI integration(인공지능 연동)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4480560" y="3474720"/>
            <a:ext cx="63550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4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dance/food server path(댄스/음식 서버 경로) 확정, timeout(시간 제한), retry(재시도)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786384" y="4498848"/>
            <a:ext cx="457200" cy="457200"/>
          </a:xfrm>
          <a:prstGeom prst="roundRect">
            <a:avLst/>
          </a:prstGeom>
          <a:solidFill>
            <a:srgbClr val="73B66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7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4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1444752" y="4434840"/>
            <a:ext cx="2880360" cy="566928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6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Production(운영)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4480560" y="4434840"/>
            <a:ext cx="63550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l"/>
            <a:r>
              <a:rPr lang="ko-KR" sz="1400" b="0">
                <a:solidFill>
                  <a:srgbClr val="44525D"/>
                </a:solidFill>
                <a:latin typeface="Aptos"/>
                <a:ea typeface="Malgun Gothic"/>
                <a:cs typeface="Malgun Gothic"/>
              </a:rPr>
              <a:t>auth(인증), deployment(배포), observability(관측성), persistent session store(영속 세션 저장소)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786384" y="5596128"/>
            <a:ext cx="10058400" cy="420624"/>
          </a:xfrm>
          <a:prstGeom prst="roundRect">
            <a:avLst/>
          </a:prstGeom>
          <a:solidFill>
            <a:srgbClr val="17212B"/>
          </a:solidFill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c"/>
            <a:r>
              <a:rPr lang="ko-KR" sz="14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Recommendation(추천): first sprint(첫 스프린트)는 protocol mismatch(프로토콜 불일치)와 AI bridge URL(AI 브리지 주소)을 먼저 닫는 것이 가장 효과적입니다.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27/29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2"/>
          <p:cNvSpPr txBox="1"/>
          <p:nvPr/>
        </p:nvSpPr>
        <p:spPr>
          <a:xfrm>
            <a:off x="566928" y="320040"/>
            <a:ext cx="438912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000" b="1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Run &amp; Present(실행과 발표)</a:t>
            </a:r>
          </a:p>
        </p:txBody>
      </p:sp>
      <p:sp>
        <p:nvSpPr>
          <p:cNvPr id="3" name="text3"/>
          <p:cNvSpPr txBox="1"/>
          <p:nvPr/>
        </p:nvSpPr>
        <p:spPr>
          <a:xfrm>
            <a:off x="530352" y="658368"/>
            <a:ext cx="8961120" cy="5029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2500" b="1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Demo Script(시연 진행안)</a:t>
            </a:r>
          </a:p>
        </p:txBody>
      </p:sp>
      <p:sp>
        <p:nvSpPr>
          <p:cNvPr id="4" name="shape4"/>
          <p:cNvSpPr/>
          <p:nvPr/>
        </p:nvSpPr>
        <p:spPr>
          <a:xfrm>
            <a:off x="566928" y="1261872"/>
            <a:ext cx="868680" cy="45720"/>
          </a:xfrm>
          <a:prstGeom prst="rect">
            <a:avLst/>
          </a:prstGeom>
          <a:solidFill>
            <a:srgbClr val="F26957"/>
          </a:solidFill>
          <a:ln>
            <a:noFill/>
          </a:ln>
        </p:spPr>
      </p:sp>
      <p:sp>
        <p:nvSpPr>
          <p:cNvPr id="5" name="shape5"/>
          <p:cNvSpPr/>
          <p:nvPr/>
        </p:nvSpPr>
        <p:spPr>
          <a:xfrm>
            <a:off x="1572768" y="1261872"/>
            <a:ext cx="640080" cy="45720"/>
          </a:xfrm>
          <a:prstGeom prst="rect">
            <a:avLst/>
          </a:prstGeom>
          <a:solidFill>
            <a:srgbClr val="2AA7A5"/>
          </a:solidFill>
          <a:ln>
            <a:noFill/>
          </a:ln>
        </p:spPr>
      </p:sp>
      <p:sp>
        <p:nvSpPr>
          <p:cNvPr id="6" name="shape6"/>
          <p:cNvSpPr/>
          <p:nvPr/>
        </p:nvSpPr>
        <p:spPr>
          <a:xfrm>
            <a:off x="2331720" y="1261872"/>
            <a:ext cx="384048" cy="45720"/>
          </a:xfrm>
          <a:prstGeom prst="rect">
            <a:avLst/>
          </a:prstGeom>
          <a:solidFill>
            <a:srgbClr val="E5B94B"/>
          </a:solidFill>
          <a:ln>
            <a:noFill/>
          </a:ln>
        </p:spPr>
      </p:sp>
      <p:sp>
        <p:nvSpPr>
          <p:cNvPr id="7" name="bullets7"/>
          <p:cNvSpPr txBox="1"/>
          <p:nvPr/>
        </p:nvSpPr>
        <p:spPr>
          <a:xfrm>
            <a:off x="768096" y="1591056"/>
            <a:ext cx="507492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4E8"/>
            </a:solidFill>
          </a:ln>
        </p:spPr>
        <p:txBody>
          <a:bodyPr wrap="square" anchor="t" lIns="137160" rIns="91440" tIns="91440" bIns="91440">
            <a:normAutofit fontScale="80000" lnSpcReduction="25000"/>
          </a:bodyPr>
          <a:lstStyle/>
          <a:p>
            <a:pPr marL="228600" indent="-171450">
              <a:buChar char="•"/>
            </a:pPr>
            <a:r>
              <a:rPr lang="ko-KR" sz="15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1. `uv run python main.py` command(명령어)로 general server(일반 서버)를 실행합니다.</a:t>
            </a:r>
          </a:p>
          <a:p>
            <a:pPr marL="228600" indent="-171450">
              <a:buChar char="•"/>
            </a:pPr>
            <a:r>
              <a:rPr lang="ko-KR" sz="15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2. Swagger UI(스웨거 UI)에서 signup/profile/home endpoint(엔드포인트)를 확인합니다.</a:t>
            </a:r>
          </a:p>
          <a:p>
            <a:pPr marL="228600" indent="-171450">
              <a:buChar char="•"/>
            </a:pPr>
            <a:r>
              <a:rPr lang="ko-KR" sz="15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3. food intake upload(식단 섭취 업로드) flow(흐름)를 설명하고 Supabase storage(슈파베이스 스토리지)를 연결합니다.</a:t>
            </a:r>
          </a:p>
          <a:p>
            <a:pPr marL="228600" indent="-171450">
              <a:buChar char="•"/>
            </a:pPr>
            <a:r>
              <a:rPr lang="ko-KR" sz="15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4. live session start request(실시간 세션 시작 요청)와 ws_url response(응답)를 보여줍니다.</a:t>
            </a:r>
          </a:p>
          <a:p>
            <a:pPr marL="228600" indent="-171450">
              <a:buChar char="•"/>
            </a:pPr>
            <a:r>
              <a:rPr lang="ko-KR" sz="1500">
                <a:solidFill>
                  <a:srgbClr val="18222D"/>
                </a:solidFill>
                <a:latin typeface="Aptos"/>
                <a:ea typeface="Malgun Gothic"/>
                <a:cs typeface="Malgun Gothic"/>
              </a:rPr>
              <a:t>5. test.gif asset(자산)으로 realtime frame streaming(실시간 프레임 스트리밍) 방향성을 소개합니다.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6400800" y="1600200"/>
            <a:ext cx="4480560" cy="4023360"/>
          </a:xfrm>
          <a:prstGeom prst="roundRect">
            <a:avLst/>
          </a:prstGeom>
          <a:solidFill>
            <a:srgbClr val="17212B"/>
          </a:solidFill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1600" b="0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Speaker note(발표자 메모)
현재 AI server(인공지능 서버) repository(저장소) 위치가 불명확하므로, demo(시연)는 general server(일반 서버)의 app-facing API(앱 연동 인터페이스)와 bridge contract(브리지 계약)를 중심으로 진행하는 것이 안전합니다.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32404B"/>
                </a:solidFill>
                <a:latin typeface="Aptos"/>
                <a:ea typeface="Malgun Gothic"/>
                <a:cs typeface="Malgun Gothic"/>
              </a:rPr>
              <a:t>28/29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713232" y="658368"/>
            <a:ext cx="10789920" cy="5166360"/>
          </a:xfrm>
          <a:prstGeom prst="roundRect">
            <a:avLst/>
          </a:prstGeom>
          <a:solidFill>
            <a:srgbClr val="17212B"/>
          </a:solidFill>
          <a:ln w="12700">
            <a:solidFill>
              <a:srgbClr val="32404B"/>
            </a:solidFill>
          </a:ln>
        </p:spPr>
      </p:sp>
      <p:sp>
        <p:nvSpPr>
          <p:cNvPr id="3" name="text3"/>
          <p:cNvSpPr txBox="1"/>
          <p:nvPr/>
        </p:nvSpPr>
        <p:spPr>
          <a:xfrm>
            <a:off x="1060704" y="1078992"/>
            <a:ext cx="9966960" cy="43891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c"/>
            <a:r>
              <a:rPr lang="ko-KR" sz="1600" b="1">
                <a:solidFill>
                  <a:srgbClr val="E5B94B"/>
                </a:solidFill>
                <a:latin typeface="Aptos"/>
                <a:ea typeface="Malgun Gothic"/>
                <a:cs typeface="Malgun Gothic"/>
              </a:rPr>
              <a:t>Closing Message(마무리 메시지)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1078992" y="1874519"/>
            <a:ext cx="9875520" cy="987552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c"/>
            <a:r>
              <a:rPr lang="ko-KR" sz="28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Dance Diet Server는 mobile client(모바일 클라이언트), AI analysis(인공지능 분석), Supabase data layer(슈파베이스 데이터 계층)를 잇는 backend hub(백엔드 허브)입니다.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1444752" y="3703320"/>
            <a:ext cx="9189720" cy="84124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c"/>
            <a:r>
              <a:rPr lang="ko-KR" sz="1800" b="0">
                <a:solidFill>
                  <a:srgbClr val="D6E0E6"/>
                </a:solidFill>
                <a:latin typeface="Aptos"/>
                <a:ea typeface="Malgun Gothic"/>
                <a:cs typeface="Malgun Gothic"/>
              </a:rPr>
              <a:t>가장 큰 next action(다음 조치)은 live WebSocket protocol(실시간 웹소켓 프로토콜)과 AI server path(인공지능 서버 경로)를 하나로 맞추는 것입니다.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3840480" y="5074920"/>
            <a:ext cx="1389888" cy="310896"/>
          </a:xfrm>
          <a:prstGeom prst="roundRect">
            <a:avLst/>
          </a:prstGeom>
          <a:solidFill>
            <a:srgbClr val="F26957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0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MVP(최소 기능 제품)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5440680" y="5074920"/>
            <a:ext cx="1508760" cy="310896"/>
          </a:xfrm>
          <a:prstGeom prst="roundRect">
            <a:avLst/>
          </a:prstGeom>
          <a:solidFill>
            <a:srgbClr val="2AA7A5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0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AI(인공지능)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7168896" y="5074920"/>
            <a:ext cx="1572768" cy="310896"/>
          </a:xfrm>
          <a:prstGeom prst="roundRect">
            <a:avLst/>
          </a:prstGeom>
          <a:solidFill>
            <a:srgbClr val="73B66B"/>
          </a:solidFill>
          <a:ln>
            <a:noFill/>
          </a:ln>
        </p:spPr>
        <p:txBody>
          <a:bodyPr wrap="square" anchor="mid" lIns="91440" rIns="91440" tIns="45720" bIns="45720">
            <a:normAutofit fontScale="82000" lnSpcReduction="20000"/>
          </a:bodyPr>
          <a:lstStyle/>
          <a:p>
            <a:pPr algn="c"/>
            <a:r>
              <a:rPr lang="ko-KR" sz="1000" b="1">
                <a:solidFill>
                  <a:srgbClr val="FFFFFF"/>
                </a:solidFill>
                <a:latin typeface="Aptos"/>
                <a:ea typeface="Malgun Gothic"/>
                <a:cs typeface="Malgun Gothic"/>
              </a:rPr>
              <a:t>Production(운영)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566928" y="6437376"/>
            <a:ext cx="39319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l"/>
            <a:r>
              <a:rPr lang="ko-KR" sz="800" b="0">
                <a:solidFill>
                  <a:srgbClr val="AEB8BF"/>
                </a:solidFill>
                <a:latin typeface="Aptos"/>
                <a:ea typeface="Malgun Gothic"/>
                <a:cs typeface="Malgun Gothic"/>
              </a:rPr>
              <a:t>Server_Dance-diet | project(프로젝트) PPT(파워포인트)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10698480" y="6437376"/>
            <a:ext cx="731520" cy="201168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91440" rIns="91440" tIns="45720" bIns="45720">
            <a:normAutofit fontScale="82000" lnSpcReduction="20000"/>
          </a:bodyPr>
          <a:lstStyle/>
          <a:p>
            <a:pPr algn="r"/>
            <a:r>
              <a:rPr lang="ko-KR" sz="800" b="0">
                <a:solidFill>
                  <a:srgbClr val="AEB8BF"/>
                </a:solidFill>
                <a:latin typeface="Aptos"/>
                <a:ea typeface="Malgun Gothic"/>
                <a:cs typeface="Malgun Gothic"/>
              </a:rPr>
              <a:t>29/29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nce Diet Theme">
  <a:themeElements>
    <a:clrScheme name="DanceDiet">
      <a:dk1>
        <a:srgbClr val="111820"/>
      </a:dk1>
      <a:lt1>
        <a:srgbClr val="F6F3EC"/>
      </a:lt1>
      <a:dk2>
        <a:srgbClr val="17212B"/>
      </a:dk2>
      <a:lt2>
        <a:srgbClr val="FFFFFF"/>
      </a:lt2>
      <a:accent1>
        <a:srgbClr val="2AA7A5"/>
      </a:accent1>
      <a:accent2>
        <a:srgbClr val="F26957"/>
      </a:accent2>
      <a:accent3>
        <a:srgbClr val="73B66B"/>
      </a:accent3>
      <a:accent4>
        <a:srgbClr val="E5B94B"/>
      </a:accent4>
      <a:accent5>
        <a:srgbClr val="3B7DDD"/>
      </a:accent5>
      <a:accent6>
        <a:srgbClr val="7A5AF8"/>
      </a:accent6>
      <a:hlink>
        <a:srgbClr val="3B7DDD"/>
      </a:hlink>
      <a:folHlink>
        <a:srgbClr val="7A5AF8"/>
      </a:folHlink>
    </a:clrScheme>
    <a:fontScheme name="DanceDietFonts">
      <a:majorFont>
        <a:latin typeface="Aptos Display"/>
        <a:ea typeface="Malgun Gothic"/>
        <a:cs typeface="Malgun Gothic"/>
      </a:majorFont>
      <a:minorFont>
        <a:latin typeface="Aptos"/>
        <a:ea typeface="Malgun Gothic"/>
        <a:cs typeface="Malgun Gothic"/>
      </a:minorFont>
    </a:fontScheme>
    <a:fmtScheme name="DanceDietFormat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12700">
          <a:solidFill>
            <a:schemeClr val="accent1"/>
          </a:solidFill>
        </a:ln>
        <a:ln w="19050">
          <a:solidFill>
            <a:schemeClr val="accent2"/>
          </a:solidFill>
        </a:ln>
        <a:ln w="25400">
          <a:solidFill>
            <a:schemeClr val="accent3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29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Dance Diet Server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Dance Diet Server Project Overview</dc:title>
  <dc:subject>FastAPI backend project presentation</dc:subject>
  <dc:creator>Codex</dc:creator>
  <cp:keywords>FastAPI WebSocket Supabase AI</cp:keywords>
  <dc:description>Project overview deck generated from repository inspection.</dc:description>
  <cp:lastModifiedBy>Codex</cp:lastModifiedBy>
  <dcterms:created xsi:type="dcterms:W3CDTF">2026-04-19T03:19:17Z</dcterms:created>
  <dcterms:modified xsi:type="dcterms:W3CDTF">2026-04-19T03:19:17Z</dcterms:modified>
</cp:coreProperties>
</file>